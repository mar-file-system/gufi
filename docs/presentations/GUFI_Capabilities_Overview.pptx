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through what GUFI is and why it matters. GUFI — the Grand Unified File Index — is an open-source, high-performance metadata indexing and query system built at Los Alamos National Laboratory. It was released as open source under the BSD license in March 2018 and is maintained on GitHub as part of the MarFS project. The single most important thing to remember: GUFI lets you run parallel SQL queries across billions of files in minutes, while strictly honoring each user's existing access controls. Over the next slides we'll cover the problem it solves, its mirrored-tree architecture, the security model that's its biggest differentiator, how indexing and querying work, the rollup performance optimization, its AI/vector-search capabilities, ecosystem connectivity, deployment, and the no-code web toolkit.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elevator pitch. Rather than flattening all metadata into one giant index — the approach most commercial products take — GUFI mirrors the tree structure of the source filesystem, and inside every directory it places a small SQLite database. That single design choice gives you five capabilities at once, listed on the right: massively parallel traversal, automatic security enforcement, full-text and AI vector search, freely composable index trees, and connectivity to the entire data-science and AI ecosystem. On provenance: this is genuinely battle-tested government technology — built at LANL under DOE contract, open-sourced in 2018 under a permissive BSD license. There is no proprietary lock-in and no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GUFI exist? Modern data centers aren't just challenged by the volume of data — they're challenged by the difficulty of finding anything in it. Capacity has outrun the ability to query metadata. Four pain points fall out of that. First, queries against big filesystems are slow and steal resources from production. Second, security is treated as an afterthought — but in regulated and classified environments, results must be filtered down to exactly what each user is cleared to see, right down to filenames. Third, storage is heterogeneous: POSIX, object, tape, and scratch all have different tooling. Fourth, existing commercial tools are built for administrators, not for end users or AI agents needing safe, access-controlled search. GUFI was designed from the ground up to solve all four in one open-source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idea — everything else follows from it. A GUFI index is a directory tree that mirrors the shape and the access permissions of your source storage. For every source directory there's a matching index directory with identical owner, group, and permission bits. Instead of the actual files, each index directory contains one small SQLite database called db.db. That database holds three tables: 'entries' has metadata for every file and symlink in that directory; 'summary' has aggregate statistics for the directory itself; and the optional 'treesummary' summarizes the entire subtree below it, so queries can skip whole branches. Because the index is just directories and plain files, it inherits filesystem permissions for free — which is the foundation of the security model we'll see in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GUFI operation always has exactly two phases. Phase one is extraction, or indexing. You scan the source storage — either by walking the live filesystem directly, or indirectly through intermediate trace files when the index server can't mount the source. As it scans, GUFI builds the mirror tree: every source directory becomes an index directory with matching permissions, and file metadata — names, inodes, sizes, timestamps, permissions, optionally extended attributes and external database content — gets written into each directory's db.db. Phase two is query. The index tree is traversed in parallel and your SQL statements execute against each directory's database. And here's the elegant part: because the directory permissions were copied from the source, users automatically see only the directories and files they're authorized to access. There is no separate access-control layer to build, configure, or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take one thing away from this deck for a regulated or classified buyer, take this slide. Most products bolt an access-control layer on top of a flat index — and that layer is exactly where breaches and leaks happen. GUFI doesn't have that layer because it doesn't need one. Security comes straight from POSIX. Directory level: to traverse a directory you need read-plus-execute on it, the same bit is set on the matching index directory, so GUFI's walker physically cannot enter directories you can't — they're invisible to you, including their existence. File level: extended-attribute values and extracted file content require read access to the file itself, so GUFI stores them in separate databases, one per permission permutation, and uses SQLite's ATTACH mechanism at query time — you can only attach the database files you have permission to open. On a filesystem with ACLs or MLS labels, those apply automatically. And crucially, root is never required: any user can index and query whatever they can already see. This is the structural answer to 'show me only what I'm cleared to see.' One scope point on the banner: this model isn't limited to POSIX filesystems — it applies to anything with traversal and access controls. A POSIX-like tree gives you the full directory hierarchy to mirror; an object store maps to a flatter traversal. Either way the security semantics carry over, which is what lets GUFI present one governed interface across heterogeneous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foundational properties. First, why SQLite? It's embedded, so there's no database server to deploy or babysit. It's open source and proven in billions of devices. It speaks full SQL and is extensible. Because each index is just a plain file, it automatically obeys POSIX permissions — no special handling. And the files stay tiny, kilobytes to megabytes per directory, so they sit comfortably on flash and deliver millions of read IOPS. Second, composability. GUFI deliberately stores no cross-directory relationships inside the databases — a directory's children are discovered from the filesystem, not looked up in a table. That means index subtrees behave like ordinary directories: you can create, copy, archive, or delete them independently; tar and replicate them across sites; or graft completely separate indexes — say a laptop index and an NFS share index — under a single search root and query them together. Try doing that with a monolithic flat-sharded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to build an index. Direct indexing with gufi_dir2index does a breadth-first, multi-threaded walk of a live filesystem and builds the mirror tree on the fly. Indirect indexing is a two-step path: gufi_dir2trace extracts lightweight flat 'trace files' of lstat metadata, then gufi_trace2index turns those into an index. That decoupling matters when the index server can't — or shouldn't — directly mount the source storage; you generate traces near the data and build the index elsewhere, and traces from many runs can be freely concatenated. Three things enrich what gets captured. Plugins: a runtime shared library can inject filesystem-specific metadata like Lustre file IDs or GPFS attributes. Extended attributes: GUFI indexes user-namespace xattrs, isolating permission-sensitive ones into per-uid and per-gid databases. And external databases: you can drop your own SQLite files alongside the data to attach arbitrary domain metadata — text-extraction results, scientific annotations, access logs — and query it right alongside the filesystem 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Rollup is GUFI's most impactful performance optimization, and the headline number is striking: in testing across LANL production filesystems, rollup cut the number of directory and database opens by more than ninety-nine percent — turning multi-minute queries into sub-second responses for typical user queries. How? The process walks the index from the bottom up. Whenever a child directory's permissions are compatible with its parent's — there are specific rules, essentially when merging won't leak anything across a permission boundary — the child's contents are merged up into the parent. The parent then gets a rollup score that tells the query engine it can stop descending, so a query opens far fewer databases. The same pass builds the treesummary tables that let queries skip whole subtrees. Two practical notes: rollup is fully reversible with gufi_unrollup, and because it replicates data upward it can grow the index, so the dash-L flag limits rollup to directories under a chosen entry count to keep any single database from getting too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Querying is done with gufi_query, the core engine. It performs that parallel breadth-first traversal and runs your SQL against each directory's database — dash-E targets the entries table, dash-S the summary table, dash-T the treesummary. The clever bit is short-circuit pruning, on the left. By default, at each directory, if the treesummary query returns nothing, GUFI skips the summary and entries queries entirely; if the summary returns nothing, it skips entries. So a query for files bigger than a megabyte can check the directory's recorded maxsize first and never even open the entries table in directories where everything is smaller. That's how you query billions of files in minutes. If you ever need every statement to run regardless, the dash-a flag turns short-circuiting off. On the right: GUFI ships a rich set of SQL functions — conversion helpers like uidtouser and human_readable_size, full PCRE2 regex, the ability to shell out per row with intop and strop, real statistical functions, and path-context functions. One best practice to remember: always use rpath() rather than path() in production, because rpath() returns correct paths whether or not the index has been rolled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GUFI stops being a backup or storage tool and becomes a data-intelligence platform — and it's all done inside the index, under the same security model. Four capabilities. Full-text search: the bundled SQLite has FTS5 enabled, so you can create full-text virtual tables over extracted file content and run keyword MATCH queries, joined back to file metadata by inode. Vector nearest-neighbor search: GUFI integrates sqlite-lembed to generate embeddings and sqlite-vec to run KNN similarity, so an analyst or agent can find files semantically related to a phrase across billions of files — and there's a progressive-pruning query pattern that keeps memory flat at scale. RAG: combine that vector search with a local LLM like llamafile and you have retrieval-augmented generation over your storage, where the model answers using only documents the querying user is authorized to see. And MCP: because any GUFI query can be exposed as a standard SQLite table, Model Context Protocol agents can query the metadata index natively, with full security enforcement — no bespoke tooling required. The throughline: AI gets to reason over your data without ever seeing data the user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GUFI doesn't lock its data away — it surfaces it through one elegant mechanism. The gufi_vt virtual-table extension makes any GUFI query appear as a native SQLite table. From that single bridge you get the whole ecosystem. In Python, you query GUFI as ordinary tables through SQLAlchemy or any SQLite-capable library. Same in R via RSQLite. DuckDB — the leading open-source analytical database — can consume GUFI virtual tables directly, giving you OLAP-style analytics and a path into Parquet, Arrow, and Pandas. Virtual tables also support remote execution: a remote_cmd parameter runs the query on a remote storage server while you consume results locally, and tools like pdsh let you fan a single query out across multiple sites in parallel. There's a contributed Django REST interface that returns JSON for dashboards, monitoring, and external systems. And as we just saw, MCP agents plug into the same surface. One query language, every consumer.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operations. The recommended production architecture puts the index on a dedicated GUFI server that holds the index trees and runs the queries. End users sit on client nodes and invoke familiar wrappers — gufi_find, gufi_ls, gufi_du, gufi_stat — which look just like the POSIX commands they replace and are forwarded to the server over SSH. Two hardening practices: mount the index read-only for users so they can't corrupt their own view, and use gufi_jail with an SSH ForceCommand so SSH-connected users can run only GUFI commands, nothing else. On keeping it current: you don't re-index from scratch. gufi_incremental_update refreshes only the directories that changed. It builds a map of today's tree, compares it against the existing index using SQL outer joins to find new, deleted, and changed directories, applies the structural changes, and swaps in fresh databases for what changed. To know what changed cheaply, it uses a 'suspect list' tailored to each filesystem — a GPFS ILM scan, the Lustre changelog, zfs diff, a TSM backup query — and falls back to a full mtime comparison only when no change log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everyone who needs to search the index is going to hand-write SQL — and they shouldn't have to. webtk is GUFI's web and desktop query builder. It turns gufi_query into dynamically generated forms, and the whole thing is table-driven: every form, field, query, and validation rule is just rows in a single SQLite configuration database. That means adding a brand-new query application is a matter of inserting records — no Python, no HTML. Four points worth making. First, two front-ends share one config: a Bottle-based web server for shared multi-user access on a port, and a Tkinter desktop GUI for individual analyst workstations — identical experience, zero code difference. Second, it's genuinely a builder: eight related tables define the apps and their query chains, and a set of auto-generated curly-brace variables assemble the final virtual-table query. Third, safety is built in — the analyze.py tool sanity-checks an application's configuration and flags issues by severity, from warning up to fatal, before anything runs against the index. And fourth, output is friendly: one-click CSV export, and a srcurl function that produces clickable links straight to the underlying source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four reasons GUFI matters. Scale: it runs parallel SQL across billions of files in minutes, and sub-second once rolled up — metadata search stops being a batch job and becomes interactive. Security by construction: POSIX, ACL, and MLS controls are enforced by the filesystem itself, so there is no separate permission layer to configure or breach — a decisive advantage in regulated, classified, and sovereign environments. Open and composable: it's plain BSD-licensed SQLite, with no lock-in, and index trees can be grafted, archived, and distributed like any directory. And AI-ready: full-text, vector search, RAG, and MCP all run on the index under that same access model, so AI can reason over the data without ever crossing a permission boundary. That last point is the strategic one — GUFI turns stored data from an inert backup target into a computable, governed substrate that humans and AI agents can both query safely. The project is open source on GitHub.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6766560" y="640080"/>
            <a:ext cx="566928" cy="566928"/>
          </a:xfrm>
          <a:prstGeom prst="roundRect">
            <a:avLst>
              <a:gd name="adj" fmla="val 9677"/>
            </a:avLst>
          </a:prstGeom>
          <a:solidFill>
            <a:srgbClr val="12304D"/>
          </a:solidFill>
          <a:ln w="12700">
            <a:solidFill>
              <a:srgbClr val="1C7293"/>
            </a:solidFill>
            <a:prstDash val="solid"/>
          </a:ln>
        </p:spPr>
      </p:sp>
      <p:sp>
        <p:nvSpPr>
          <p:cNvPr id="3" name="Shape 1"/>
          <p:cNvSpPr/>
          <p:nvPr/>
        </p:nvSpPr>
        <p:spPr>
          <a:xfrm>
            <a:off x="7589520" y="1417320"/>
            <a:ext cx="566928" cy="566928"/>
          </a:xfrm>
          <a:prstGeom prst="roundRect">
            <a:avLst>
              <a:gd name="adj" fmla="val 9677"/>
            </a:avLst>
          </a:prstGeom>
          <a:solidFill>
            <a:srgbClr val="12304D"/>
          </a:solidFill>
          <a:ln w="12700">
            <a:solidFill>
              <a:srgbClr val="1C7293"/>
            </a:solidFill>
            <a:prstDash val="solid"/>
          </a:ln>
        </p:spPr>
      </p:sp>
      <p:sp>
        <p:nvSpPr>
          <p:cNvPr id="4" name="Shape 2"/>
          <p:cNvSpPr/>
          <p:nvPr/>
        </p:nvSpPr>
        <p:spPr>
          <a:xfrm>
            <a:off x="6766560" y="2194560"/>
            <a:ext cx="566928" cy="566928"/>
          </a:xfrm>
          <a:prstGeom prst="roundRect">
            <a:avLst>
              <a:gd name="adj" fmla="val 9677"/>
            </a:avLst>
          </a:prstGeom>
          <a:solidFill>
            <a:srgbClr val="12304D"/>
          </a:solidFill>
          <a:ln w="12700">
            <a:solidFill>
              <a:srgbClr val="1C7293"/>
            </a:solidFill>
            <a:prstDash val="solid"/>
          </a:ln>
        </p:spPr>
      </p:sp>
      <p:sp>
        <p:nvSpPr>
          <p:cNvPr id="5" name="Shape 3"/>
          <p:cNvSpPr/>
          <p:nvPr/>
        </p:nvSpPr>
        <p:spPr>
          <a:xfrm>
            <a:off x="7589520" y="2971800"/>
            <a:ext cx="566928" cy="566928"/>
          </a:xfrm>
          <a:prstGeom prst="roundRect">
            <a:avLst>
              <a:gd name="adj" fmla="val 9677"/>
            </a:avLst>
          </a:prstGeom>
          <a:solidFill>
            <a:srgbClr val="12304D"/>
          </a:solidFill>
          <a:ln w="12700">
            <a:solidFill>
              <a:srgbClr val="1C7293"/>
            </a:solidFill>
            <a:prstDash val="solid"/>
          </a:ln>
        </p:spPr>
      </p:sp>
      <p:sp>
        <p:nvSpPr>
          <p:cNvPr id="6" name="Shape 4"/>
          <p:cNvSpPr/>
          <p:nvPr/>
        </p:nvSpPr>
        <p:spPr>
          <a:xfrm>
            <a:off x="6766560" y="3749040"/>
            <a:ext cx="566928" cy="566928"/>
          </a:xfrm>
          <a:prstGeom prst="roundRect">
            <a:avLst>
              <a:gd name="adj" fmla="val 9677"/>
            </a:avLst>
          </a:prstGeom>
          <a:solidFill>
            <a:srgbClr val="12304D"/>
          </a:solidFill>
          <a:ln w="12700">
            <a:solidFill>
              <a:srgbClr val="1C7293"/>
            </a:solidFill>
            <a:prstDash val="solid"/>
          </a:ln>
        </p:spPr>
      </p:sp>
      <p:sp>
        <p:nvSpPr>
          <p:cNvPr id="7" name="Shape 5"/>
          <p:cNvSpPr/>
          <p:nvPr/>
        </p:nvSpPr>
        <p:spPr>
          <a:xfrm>
            <a:off x="548640" y="548640"/>
            <a:ext cx="822960" cy="822960"/>
          </a:xfrm>
          <a:prstGeom prst="ellipse">
            <a:avLst/>
          </a:prstGeom>
          <a:solidFill>
            <a:srgbClr val="1C7293"/>
          </a:solidFill>
          <a:ln/>
        </p:spPr>
      </p:sp>
      <p:pic>
        <p:nvPicPr>
          <p:cNvPr id="8" name="Image 0" descr="preencoded.png">    </p:cNvPr>
          <p:cNvPicPr>
            <a:picLocks noChangeAspect="1"/>
          </p:cNvPicPr>
          <p:nvPr/>
        </p:nvPicPr>
        <p:blipFill>
          <a:blip r:embed="rId1"/>
          <a:stretch>
            <a:fillRect/>
          </a:stretch>
        </p:blipFill>
        <p:spPr>
          <a:xfrm>
            <a:off x="762610" y="762610"/>
            <a:ext cx="395021" cy="395021"/>
          </a:xfrm>
          <a:prstGeom prst="rect">
            <a:avLst/>
          </a:prstGeom>
        </p:spPr>
      </p:pic>
      <p:sp>
        <p:nvSpPr>
          <p:cNvPr id="9" name="Text 6"/>
          <p:cNvSpPr/>
          <p:nvPr/>
        </p:nvSpPr>
        <p:spPr>
          <a:xfrm>
            <a:off x="566928" y="1600200"/>
            <a:ext cx="7315200" cy="274320"/>
          </a:xfrm>
          <a:prstGeom prst="rect">
            <a:avLst/>
          </a:prstGeom>
          <a:noFill/>
          <a:ln/>
        </p:spPr>
        <p:txBody>
          <a:bodyPr wrap="square" lIns="0" tIns="0" rIns="0" bIns="0" rtlCol="0" anchor="ctr"/>
          <a:lstStyle/>
          <a:p>
            <a:pPr indent="0" marL="0">
              <a:buNone/>
            </a:pPr>
            <a:r>
              <a:rPr lang="en-US" sz="1200" b="1" spc="200" kern="0" dirty="0">
                <a:solidFill>
                  <a:srgbClr val="2E8BAB"/>
                </a:solidFill>
                <a:latin typeface="Calibri" pitchFamily="34" charset="0"/>
                <a:ea typeface="Calibri" pitchFamily="34" charset="-122"/>
                <a:cs typeface="Calibri" pitchFamily="34" charset="-120"/>
              </a:rPr>
              <a:t>LOS ALAMOS NATIONAL LABORATORY  ·  OPEN SOURCE (BSD)</a:t>
            </a:r>
            <a:endParaRPr lang="en-US" sz="1200" dirty="0"/>
          </a:p>
        </p:txBody>
      </p:sp>
      <p:sp>
        <p:nvSpPr>
          <p:cNvPr id="10" name="Text 7"/>
          <p:cNvSpPr/>
          <p:nvPr/>
        </p:nvSpPr>
        <p:spPr>
          <a:xfrm>
            <a:off x="548640" y="1874520"/>
            <a:ext cx="7315200" cy="91440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GUFI</a:t>
            </a:r>
            <a:endParaRPr lang="en-US" sz="6600" dirty="0"/>
          </a:p>
        </p:txBody>
      </p:sp>
      <p:sp>
        <p:nvSpPr>
          <p:cNvPr id="11" name="Text 8"/>
          <p:cNvSpPr/>
          <p:nvPr/>
        </p:nvSpPr>
        <p:spPr>
          <a:xfrm>
            <a:off x="566928" y="2788920"/>
            <a:ext cx="7772400" cy="548640"/>
          </a:xfrm>
          <a:prstGeom prst="rect">
            <a:avLst/>
          </a:prstGeom>
          <a:noFill/>
          <a:ln/>
        </p:spPr>
        <p:txBody>
          <a:bodyPr wrap="square" lIns="0" tIns="0" rIns="0" bIns="0" rtlCol="0" anchor="ctr"/>
          <a:lstStyle/>
          <a:p>
            <a:pPr indent="0" marL="0">
              <a:buNone/>
            </a:pPr>
            <a:r>
              <a:rPr lang="en-US" sz="2700" i="1" dirty="0">
                <a:solidFill>
                  <a:srgbClr val="F5A623"/>
                </a:solidFill>
                <a:latin typeface="Cambria" pitchFamily="34" charset="0"/>
                <a:ea typeface="Cambria" pitchFamily="34" charset="-122"/>
                <a:cs typeface="Cambria" pitchFamily="34" charset="-120"/>
              </a:rPr>
              <a:t>The Grand Unified File Index</a:t>
            </a:r>
            <a:endParaRPr lang="en-US" sz="2700" dirty="0"/>
          </a:p>
        </p:txBody>
      </p:sp>
      <p:sp>
        <p:nvSpPr>
          <p:cNvPr id="12" name="Text 9"/>
          <p:cNvSpPr/>
          <p:nvPr/>
        </p:nvSpPr>
        <p:spPr>
          <a:xfrm>
            <a:off x="566928" y="3429000"/>
            <a:ext cx="7132320" cy="640080"/>
          </a:xfrm>
          <a:prstGeom prst="rect">
            <a:avLst/>
          </a:prstGeom>
          <a:noFill/>
          <a:ln/>
        </p:spPr>
        <p:txBody>
          <a:bodyPr wrap="square" lIns="0" tIns="0" rIns="0" bIns="0" rtlCol="0" anchor="ctr"/>
          <a:lstStyle/>
          <a:p>
            <a:pPr indent="0" marL="0">
              <a:buNone/>
            </a:pPr>
            <a:r>
              <a:rPr lang="en-US" sz="1500" dirty="0">
                <a:solidFill>
                  <a:srgbClr val="C7D6E5"/>
                </a:solidFill>
                <a:latin typeface="Calibri" pitchFamily="34" charset="0"/>
                <a:ea typeface="Calibri" pitchFamily="34" charset="-122"/>
                <a:cs typeface="Calibri" pitchFamily="34" charset="-120"/>
              </a:rPr>
              <a:t>Searching and governing metadata across billions of files — at HPC scale, with security built in.</a:t>
            </a:r>
            <a:endParaRPr lang="en-US" sz="1500" dirty="0"/>
          </a:p>
        </p:txBody>
      </p:sp>
      <p:sp>
        <p:nvSpPr>
          <p:cNvPr id="13" name="Text 10"/>
          <p:cNvSpPr/>
          <p:nvPr/>
        </p:nvSpPr>
        <p:spPr>
          <a:xfrm>
            <a:off x="566928" y="4434840"/>
            <a:ext cx="8229600" cy="274320"/>
          </a:xfrm>
          <a:prstGeom prst="rect">
            <a:avLst/>
          </a:prstGeom>
          <a:noFill/>
          <a:ln/>
        </p:spPr>
        <p:txBody>
          <a:bodyPr wrap="square" lIns="0" tIns="0" rIns="0" bIns="0" rtlCol="0" anchor="ctr"/>
          <a:lstStyle/>
          <a:p>
            <a:pPr indent="0" marL="0">
              <a:buNone/>
            </a:pPr>
            <a:r>
              <a:rPr lang="en-US" sz="1200" dirty="0">
                <a:solidFill>
                  <a:srgbClr val="8AA2B8"/>
                </a:solidFill>
                <a:latin typeface="Calibri" pitchFamily="34" charset="0"/>
                <a:ea typeface="Calibri" pitchFamily="34" charset="-122"/>
                <a:cs typeface="Calibri" pitchFamily="34" charset="-120"/>
              </a:rPr>
              <a:t>Capabilities Overview  ·  Architecture · Security · AI Integration · Ecosystem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300" kern="0" dirty="0">
                <a:solidFill>
                  <a:srgbClr val="2E8BAB"/>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658368"/>
            <a:ext cx="8046720" cy="640080"/>
          </a:xfrm>
          <a:prstGeom prst="rect">
            <a:avLst/>
          </a:prstGeom>
          <a:noFill/>
          <a:ln/>
        </p:spPr>
        <p:txBody>
          <a:bodyPr wrap="square" lIns="0" tIns="0" rIns="0" bIns="0" rtlCol="0" anchor="ctr"/>
          <a:lstStyle/>
          <a:p>
            <a:pPr indent="0" marL="0">
              <a:buNone/>
            </a:pPr>
            <a:r>
              <a:rPr lang="en-US" sz="3000" b="1" dirty="0">
                <a:solidFill>
                  <a:srgbClr val="0B1F33"/>
                </a:solidFill>
                <a:latin typeface="Cambria" pitchFamily="34" charset="0"/>
                <a:ea typeface="Cambria" pitchFamily="34" charset="-122"/>
                <a:cs typeface="Cambria" pitchFamily="34" charset="-120"/>
              </a:rPr>
              <a:t>A query engine for filesystem metadata</a:t>
            </a:r>
            <a:endParaRPr lang="en-US" sz="3000" dirty="0"/>
          </a:p>
        </p:txBody>
      </p:sp>
      <p:sp>
        <p:nvSpPr>
          <p:cNvPr id="4" name="Text 2"/>
          <p:cNvSpPr/>
          <p:nvPr/>
        </p:nvSpPr>
        <p:spPr>
          <a:xfrm>
            <a:off x="548640" y="1417320"/>
            <a:ext cx="4892040" cy="1371600"/>
          </a:xfrm>
          <a:prstGeom prst="rect">
            <a:avLst/>
          </a:prstGeom>
          <a:noFill/>
          <a:ln/>
        </p:spPr>
        <p:txBody>
          <a:bodyPr wrap="square" lIns="0" tIns="0" rIns="0" bIns="0" rtlCol="0" anchor="ctr"/>
          <a:lstStyle/>
          <a:p>
            <a:pPr indent="0" marL="0">
              <a:lnSpc>
                <a:spcPct val="112000"/>
              </a:lnSpc>
              <a:buNone/>
            </a:pPr>
            <a:r>
              <a:rPr lang="en-US" sz="1450" dirty="0">
                <a:solidFill>
                  <a:srgbClr val="1B2A38"/>
                </a:solidFill>
                <a:latin typeface="Calibri" pitchFamily="34" charset="0"/>
                <a:ea typeface="Calibri" pitchFamily="34" charset="-122"/>
                <a:cs typeface="Calibri" pitchFamily="34" charset="-120"/>
              </a:rPr>
              <a:t>GUFI creates a mirrored index tree that replicates the shape and security permissions of a source filesystem, replacing each file with a record in a compact SQLite database. This makes it possible to run parallel SQL queries across billions of files in minutes — while ensuring users only see metadata they are authorized to access.</a:t>
            </a:r>
            <a:endParaRPr lang="en-US" sz="1450" dirty="0"/>
          </a:p>
        </p:txBody>
      </p:sp>
      <p:sp>
        <p:nvSpPr>
          <p:cNvPr id="5" name="Shape 3"/>
          <p:cNvSpPr/>
          <p:nvPr/>
        </p:nvSpPr>
        <p:spPr>
          <a:xfrm>
            <a:off x="5623560" y="1371600"/>
            <a:ext cx="457200" cy="457200"/>
          </a:xfrm>
          <a:prstGeom prst="ellipse">
            <a:avLst/>
          </a:prstGeom>
          <a:solidFill>
            <a:srgbClr val="2E8BAB"/>
          </a:solidFill>
          <a:ln/>
        </p:spPr>
      </p:sp>
      <p:pic>
        <p:nvPicPr>
          <p:cNvPr id="6" name="Image 0" descr="preencoded.png">    </p:cNvPr>
          <p:cNvPicPr>
            <a:picLocks noChangeAspect="1"/>
          </p:cNvPicPr>
          <p:nvPr/>
        </p:nvPicPr>
        <p:blipFill>
          <a:blip r:embed="rId1"/>
          <a:stretch>
            <a:fillRect/>
          </a:stretch>
        </p:blipFill>
        <p:spPr>
          <a:xfrm>
            <a:off x="5742432" y="1490472"/>
            <a:ext cx="219456" cy="219456"/>
          </a:xfrm>
          <a:prstGeom prst="rect">
            <a:avLst/>
          </a:prstGeom>
        </p:spPr>
      </p:pic>
      <p:sp>
        <p:nvSpPr>
          <p:cNvPr id="7" name="Text 4"/>
          <p:cNvSpPr/>
          <p:nvPr/>
        </p:nvSpPr>
        <p:spPr>
          <a:xfrm>
            <a:off x="6199632" y="1344168"/>
            <a:ext cx="2697480" cy="512064"/>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Parallel breadth-first traversal of the index tree</a:t>
            </a:r>
            <a:endParaRPr lang="en-US" sz="1250" dirty="0"/>
          </a:p>
        </p:txBody>
      </p:sp>
      <p:sp>
        <p:nvSpPr>
          <p:cNvPr id="8" name="Shape 5"/>
          <p:cNvSpPr/>
          <p:nvPr/>
        </p:nvSpPr>
        <p:spPr>
          <a:xfrm>
            <a:off x="5623560" y="2029968"/>
            <a:ext cx="457200" cy="457200"/>
          </a:xfrm>
          <a:prstGeom prst="ellipse">
            <a:avLst/>
          </a:prstGeom>
          <a:solidFill>
            <a:srgbClr val="2E8BAB"/>
          </a:solidFill>
          <a:ln/>
        </p:spPr>
      </p:sp>
      <p:pic>
        <p:nvPicPr>
          <p:cNvPr id="9" name="Image 1" descr="preencoded.png">    </p:cNvPr>
          <p:cNvPicPr>
            <a:picLocks noChangeAspect="1"/>
          </p:cNvPicPr>
          <p:nvPr/>
        </p:nvPicPr>
        <p:blipFill>
          <a:blip r:embed="rId2"/>
          <a:stretch>
            <a:fillRect/>
          </a:stretch>
        </p:blipFill>
        <p:spPr>
          <a:xfrm>
            <a:off x="5742432" y="2148840"/>
            <a:ext cx="219456" cy="219456"/>
          </a:xfrm>
          <a:prstGeom prst="rect">
            <a:avLst/>
          </a:prstGeom>
        </p:spPr>
      </p:pic>
      <p:sp>
        <p:nvSpPr>
          <p:cNvPr id="10" name="Text 6"/>
          <p:cNvSpPr/>
          <p:nvPr/>
        </p:nvSpPr>
        <p:spPr>
          <a:xfrm>
            <a:off x="6199632" y="2002536"/>
            <a:ext cx="2697480" cy="512064"/>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POSIX / ACL / MLS security enforced automatically</a:t>
            </a:r>
            <a:endParaRPr lang="en-US" sz="1250" dirty="0"/>
          </a:p>
        </p:txBody>
      </p:sp>
      <p:sp>
        <p:nvSpPr>
          <p:cNvPr id="11" name="Shape 7"/>
          <p:cNvSpPr/>
          <p:nvPr/>
        </p:nvSpPr>
        <p:spPr>
          <a:xfrm>
            <a:off x="5623560" y="2688336"/>
            <a:ext cx="457200" cy="457200"/>
          </a:xfrm>
          <a:prstGeom prst="ellipse">
            <a:avLst/>
          </a:prstGeom>
          <a:solidFill>
            <a:srgbClr val="2E8BAB"/>
          </a:solidFill>
          <a:ln/>
        </p:spPr>
      </p:sp>
      <p:pic>
        <p:nvPicPr>
          <p:cNvPr id="12" name="Image 2" descr="preencoded.png">    </p:cNvPr>
          <p:cNvPicPr>
            <a:picLocks noChangeAspect="1"/>
          </p:cNvPicPr>
          <p:nvPr/>
        </p:nvPicPr>
        <p:blipFill>
          <a:blip r:embed="rId3"/>
          <a:stretch>
            <a:fillRect/>
          </a:stretch>
        </p:blipFill>
        <p:spPr>
          <a:xfrm>
            <a:off x="5742432" y="2807208"/>
            <a:ext cx="219456" cy="219456"/>
          </a:xfrm>
          <a:prstGeom prst="rect">
            <a:avLst/>
          </a:prstGeom>
        </p:spPr>
      </p:pic>
      <p:sp>
        <p:nvSpPr>
          <p:cNvPr id="13" name="Text 8"/>
          <p:cNvSpPr/>
          <p:nvPr/>
        </p:nvSpPr>
        <p:spPr>
          <a:xfrm>
            <a:off x="6199632" y="2660904"/>
            <a:ext cx="2697480" cy="512064"/>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Full-text (FTS5) and AI vector nearest-neighbor search</a:t>
            </a:r>
            <a:endParaRPr lang="en-US" sz="1250" dirty="0"/>
          </a:p>
        </p:txBody>
      </p:sp>
      <p:sp>
        <p:nvSpPr>
          <p:cNvPr id="14" name="Shape 9"/>
          <p:cNvSpPr/>
          <p:nvPr/>
        </p:nvSpPr>
        <p:spPr>
          <a:xfrm>
            <a:off x="5623560" y="3346704"/>
            <a:ext cx="457200" cy="457200"/>
          </a:xfrm>
          <a:prstGeom prst="ellipse">
            <a:avLst/>
          </a:prstGeom>
          <a:solidFill>
            <a:srgbClr val="2E8BAB"/>
          </a:solidFill>
          <a:ln/>
        </p:spPr>
      </p:sp>
      <p:pic>
        <p:nvPicPr>
          <p:cNvPr id="15" name="Image 3" descr="preencoded.png">    </p:cNvPr>
          <p:cNvPicPr>
            <a:picLocks noChangeAspect="1"/>
          </p:cNvPicPr>
          <p:nvPr/>
        </p:nvPicPr>
        <p:blipFill>
          <a:blip r:embed="rId4"/>
          <a:stretch>
            <a:fillRect/>
          </a:stretch>
        </p:blipFill>
        <p:spPr>
          <a:xfrm>
            <a:off x="5742432" y="3465576"/>
            <a:ext cx="219456" cy="219456"/>
          </a:xfrm>
          <a:prstGeom prst="rect">
            <a:avLst/>
          </a:prstGeom>
        </p:spPr>
      </p:pic>
      <p:sp>
        <p:nvSpPr>
          <p:cNvPr id="16" name="Text 10"/>
          <p:cNvSpPr/>
          <p:nvPr/>
        </p:nvSpPr>
        <p:spPr>
          <a:xfrm>
            <a:off x="6199632" y="3319272"/>
            <a:ext cx="2697480" cy="512064"/>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Composable, decomposable, plain-file index trees</a:t>
            </a:r>
            <a:endParaRPr lang="en-US" sz="1250" dirty="0"/>
          </a:p>
        </p:txBody>
      </p:sp>
      <p:sp>
        <p:nvSpPr>
          <p:cNvPr id="17" name="Shape 11"/>
          <p:cNvSpPr/>
          <p:nvPr/>
        </p:nvSpPr>
        <p:spPr>
          <a:xfrm>
            <a:off x="5623560" y="4005072"/>
            <a:ext cx="457200" cy="457200"/>
          </a:xfrm>
          <a:prstGeom prst="ellipse">
            <a:avLst/>
          </a:prstGeom>
          <a:solidFill>
            <a:srgbClr val="2E8BAB"/>
          </a:solidFill>
          <a:ln/>
        </p:spPr>
      </p:sp>
      <p:pic>
        <p:nvPicPr>
          <p:cNvPr id="18" name="Image 4" descr="preencoded.png">    </p:cNvPr>
          <p:cNvPicPr>
            <a:picLocks noChangeAspect="1"/>
          </p:cNvPicPr>
          <p:nvPr/>
        </p:nvPicPr>
        <p:blipFill>
          <a:blip r:embed="rId5"/>
          <a:stretch>
            <a:fillRect/>
          </a:stretch>
        </p:blipFill>
        <p:spPr>
          <a:xfrm>
            <a:off x="5742432" y="4123944"/>
            <a:ext cx="219456" cy="219456"/>
          </a:xfrm>
          <a:prstGeom prst="rect">
            <a:avLst/>
          </a:prstGeom>
        </p:spPr>
      </p:pic>
      <p:sp>
        <p:nvSpPr>
          <p:cNvPr id="19" name="Text 12"/>
          <p:cNvSpPr/>
          <p:nvPr/>
        </p:nvSpPr>
        <p:spPr>
          <a:xfrm>
            <a:off x="6199632" y="3977640"/>
            <a:ext cx="2697480" cy="512064"/>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Connects to Python, R, DuckDB, REST, and MCP agents</a:t>
            </a:r>
            <a:endParaRPr lang="en-US" sz="1250" dirty="0"/>
          </a:p>
        </p:txBody>
      </p:sp>
      <p:sp>
        <p:nvSpPr>
          <p:cNvPr id="20" name="Shape 13"/>
          <p:cNvSpPr/>
          <p:nvPr/>
        </p:nvSpPr>
        <p:spPr>
          <a:xfrm>
            <a:off x="548640" y="3063240"/>
            <a:ext cx="4892040" cy="1417320"/>
          </a:xfrm>
          <a:prstGeom prst="roundRect">
            <a:avLst>
              <a:gd name="adj" fmla="val 5161"/>
            </a:avLst>
          </a:prstGeom>
          <a:solidFill>
            <a:srgbClr val="FFFFFF"/>
          </a:solidFill>
          <a:ln/>
          <a:effectLst>
            <a:outerShdw sx="100000" sy="100000" kx="0" ky="0" algn="bl" rotWithShape="0" blurRad="88900" dist="38100" dir="5400000">
              <a:srgbClr val="0B1F33">
                <a:alpha val="13000"/>
              </a:srgbClr>
            </a:outerShdw>
          </a:effectLst>
        </p:spPr>
      </p:sp>
      <p:sp>
        <p:nvSpPr>
          <p:cNvPr id="21" name="Shape 14"/>
          <p:cNvSpPr/>
          <p:nvPr/>
        </p:nvSpPr>
        <p:spPr>
          <a:xfrm>
            <a:off x="777240" y="3310128"/>
            <a:ext cx="548640" cy="548640"/>
          </a:xfrm>
          <a:prstGeom prst="ellipse">
            <a:avLst/>
          </a:prstGeom>
          <a:solidFill>
            <a:srgbClr val="0B1F33"/>
          </a:solidFill>
          <a:ln/>
        </p:spPr>
      </p:sp>
      <p:pic>
        <p:nvPicPr>
          <p:cNvPr id="22" name="Image 5" descr="preencoded.png">    </p:cNvPr>
          <p:cNvPicPr>
            <a:picLocks noChangeAspect="1"/>
          </p:cNvPicPr>
          <p:nvPr/>
        </p:nvPicPr>
        <p:blipFill>
          <a:blip r:embed="rId6"/>
          <a:stretch>
            <a:fillRect/>
          </a:stretch>
        </p:blipFill>
        <p:spPr>
          <a:xfrm>
            <a:off x="919886" y="3452774"/>
            <a:ext cx="263347" cy="263347"/>
          </a:xfrm>
          <a:prstGeom prst="rect">
            <a:avLst/>
          </a:prstGeom>
        </p:spPr>
      </p:pic>
      <p:sp>
        <p:nvSpPr>
          <p:cNvPr id="23" name="Text 15"/>
          <p:cNvSpPr/>
          <p:nvPr/>
        </p:nvSpPr>
        <p:spPr>
          <a:xfrm>
            <a:off x="1481328" y="3291840"/>
            <a:ext cx="3749040" cy="27432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Origin &amp; license</a:t>
            </a:r>
            <a:endParaRPr lang="en-US" sz="1200" dirty="0"/>
          </a:p>
        </p:txBody>
      </p:sp>
      <p:sp>
        <p:nvSpPr>
          <p:cNvPr id="24" name="Text 16"/>
          <p:cNvSpPr/>
          <p:nvPr/>
        </p:nvSpPr>
        <p:spPr>
          <a:xfrm>
            <a:off x="1481328" y="3584448"/>
            <a:ext cx="3794760" cy="822960"/>
          </a:xfrm>
          <a:prstGeom prst="rect">
            <a:avLst/>
          </a:prstGeom>
          <a:noFill/>
          <a:ln/>
        </p:spPr>
        <p:txBody>
          <a:bodyPr wrap="square" lIns="0" tIns="0" rIns="0" bIns="0" rtlCol="0" anchor="ctr"/>
          <a:lstStyle/>
          <a:p>
            <a:pPr indent="0" marL="0">
              <a:lnSpc>
                <a:spcPct val="105000"/>
              </a:lnSpc>
              <a:buNone/>
            </a:pPr>
            <a:r>
              <a:rPr lang="en-US" sz="1150" dirty="0">
                <a:solidFill>
                  <a:srgbClr val="5A6B7B"/>
                </a:solidFill>
                <a:latin typeface="Calibri" pitchFamily="34" charset="0"/>
                <a:ea typeface="Calibri" pitchFamily="34" charset="-122"/>
                <a:cs typeface="Calibri" pitchFamily="34" charset="-120"/>
              </a:rPr>
              <a:t>Developed at LANL under U.S. Government contract DE-AC52-06NA25396. Released open source on March 22, 2018. BSD license; classification LA-CC-15-039.</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300" kern="0" dirty="0">
                <a:solidFill>
                  <a:srgbClr val="2E8BAB"/>
                </a:solidFill>
                <a:latin typeface="Calibri" pitchFamily="34" charset="0"/>
                <a:ea typeface="Calibri" pitchFamily="34" charset="-122"/>
                <a:cs typeface="Calibri" pitchFamily="34" charset="-120"/>
              </a:rPr>
              <a:t>BACKGROUND &amp; MOTIVATION</a:t>
            </a:r>
            <a:endParaRPr lang="en-US" sz="1200" dirty="0"/>
          </a:p>
        </p:txBody>
      </p:sp>
      <p:sp>
        <p:nvSpPr>
          <p:cNvPr id="3" name="Text 1"/>
          <p:cNvSpPr/>
          <p:nvPr/>
        </p:nvSpPr>
        <p:spPr>
          <a:xfrm>
            <a:off x="548640" y="658368"/>
            <a:ext cx="8046720" cy="640080"/>
          </a:xfrm>
          <a:prstGeom prst="rect">
            <a:avLst/>
          </a:prstGeom>
          <a:noFill/>
          <a:ln/>
        </p:spPr>
        <p:txBody>
          <a:bodyPr wrap="square" lIns="0" tIns="0" rIns="0" bIns="0" rtlCol="0" anchor="ctr"/>
          <a:lstStyle/>
          <a:p>
            <a:pPr indent="0" marL="0">
              <a:buNone/>
            </a:pPr>
            <a:r>
              <a:rPr lang="en-US" sz="3000" b="1" dirty="0">
                <a:solidFill>
                  <a:srgbClr val="0B1F33"/>
                </a:solidFill>
                <a:latin typeface="Cambria" pitchFamily="34" charset="0"/>
                <a:ea typeface="Cambria" pitchFamily="34" charset="-122"/>
                <a:cs typeface="Cambria" pitchFamily="34" charset="-120"/>
              </a:rPr>
              <a:t>The metadata search problem</a:t>
            </a:r>
            <a:endParaRPr lang="en-US" sz="3000" dirty="0"/>
          </a:p>
        </p:txBody>
      </p:sp>
      <p:sp>
        <p:nvSpPr>
          <p:cNvPr id="4" name="Text 2"/>
          <p:cNvSpPr/>
          <p:nvPr/>
        </p:nvSpPr>
        <p:spPr>
          <a:xfrm>
            <a:off x="548640" y="1371600"/>
            <a:ext cx="8046720" cy="365760"/>
          </a:xfrm>
          <a:prstGeom prst="rect">
            <a:avLst/>
          </a:prstGeom>
          <a:noFill/>
          <a:ln/>
        </p:spPr>
        <p:txBody>
          <a:bodyPr wrap="square" lIns="0" tIns="0" rIns="0" bIns="0" rtlCol="0" anchor="ctr"/>
          <a:lstStyle/>
          <a:p>
            <a:pPr indent="0" marL="0">
              <a:buNone/>
            </a:pPr>
            <a:r>
              <a:rPr lang="en-US" sz="1400" dirty="0">
                <a:solidFill>
                  <a:srgbClr val="5A6B7B"/>
                </a:solidFill>
                <a:latin typeface="Calibri" pitchFamily="34" charset="0"/>
                <a:ea typeface="Calibri" pitchFamily="34" charset="-122"/>
                <a:cs typeface="Calibri" pitchFamily="34" charset="-120"/>
              </a:rPr>
              <a:t>Storage has grown faster in raw capacity than in metadata-query capability. The result:</a:t>
            </a:r>
            <a:endParaRPr lang="en-US" sz="1400" dirty="0"/>
          </a:p>
        </p:txBody>
      </p:sp>
      <p:sp>
        <p:nvSpPr>
          <p:cNvPr id="5" name="Shape 3"/>
          <p:cNvSpPr/>
          <p:nvPr/>
        </p:nvSpPr>
        <p:spPr>
          <a:xfrm>
            <a:off x="548640" y="1920240"/>
            <a:ext cx="3950208" cy="1325880"/>
          </a:xfrm>
          <a:prstGeom prst="roundRect">
            <a:avLst>
              <a:gd name="adj" fmla="val 4828"/>
            </a:avLst>
          </a:prstGeom>
          <a:solidFill>
            <a:srgbClr val="FFFFFF"/>
          </a:solidFill>
          <a:ln/>
          <a:effectLst>
            <a:outerShdw sx="100000" sy="100000" kx="0" ky="0" algn="bl" rotWithShape="0" blurRad="88900" dist="38100" dir="5400000">
              <a:srgbClr val="0B1F33">
                <a:alpha val="13000"/>
              </a:srgbClr>
            </a:outerShdw>
          </a:effectLst>
        </p:spPr>
      </p:sp>
      <p:sp>
        <p:nvSpPr>
          <p:cNvPr id="6" name="Shape 4"/>
          <p:cNvSpPr/>
          <p:nvPr/>
        </p:nvSpPr>
        <p:spPr>
          <a:xfrm>
            <a:off x="777240" y="2167128"/>
            <a:ext cx="566928" cy="566928"/>
          </a:xfrm>
          <a:prstGeom prst="ellipse">
            <a:avLst/>
          </a:prstGeom>
          <a:solidFill>
            <a:srgbClr val="F5A623"/>
          </a:solidFill>
          <a:ln/>
        </p:spPr>
      </p:sp>
      <p:pic>
        <p:nvPicPr>
          <p:cNvPr id="7" name="Image 0" descr="preencoded.png">    </p:cNvPr>
          <p:cNvPicPr>
            <a:picLocks noChangeAspect="1"/>
          </p:cNvPicPr>
          <p:nvPr/>
        </p:nvPicPr>
        <p:blipFill>
          <a:blip r:embed="rId1"/>
          <a:stretch>
            <a:fillRect/>
          </a:stretch>
        </p:blipFill>
        <p:spPr>
          <a:xfrm>
            <a:off x="924641" y="2314529"/>
            <a:ext cx="272125" cy="272125"/>
          </a:xfrm>
          <a:prstGeom prst="rect">
            <a:avLst/>
          </a:prstGeom>
        </p:spPr>
      </p:pic>
      <p:sp>
        <p:nvSpPr>
          <p:cNvPr id="8" name="Text 5"/>
          <p:cNvSpPr/>
          <p:nvPr/>
        </p:nvSpPr>
        <p:spPr>
          <a:xfrm>
            <a:off x="1508760" y="2121408"/>
            <a:ext cx="2852928" cy="365760"/>
          </a:xfrm>
          <a:prstGeom prst="rect">
            <a:avLst/>
          </a:prstGeom>
          <a:noFill/>
          <a:ln/>
        </p:spPr>
        <p:txBody>
          <a:bodyPr wrap="square" lIns="0" tIns="0" rIns="0" bIns="0" rtlCol="0" anchor="ctr"/>
          <a:lstStyle/>
          <a:p>
            <a:pPr indent="0" marL="0">
              <a:buNone/>
            </a:pPr>
            <a:r>
              <a:rPr lang="en-US" sz="1550" b="1" dirty="0">
                <a:solidFill>
                  <a:srgbClr val="0B1F33"/>
                </a:solidFill>
                <a:latin typeface="Cambria" pitchFamily="34" charset="0"/>
                <a:ea typeface="Cambria" pitchFamily="34" charset="-122"/>
                <a:cs typeface="Cambria" pitchFamily="34" charset="-120"/>
              </a:rPr>
              <a:t>Slow &amp; resource-intensive</a:t>
            </a:r>
            <a:endParaRPr lang="en-US" sz="1550" dirty="0"/>
          </a:p>
        </p:txBody>
      </p:sp>
      <p:sp>
        <p:nvSpPr>
          <p:cNvPr id="9" name="Text 6"/>
          <p:cNvSpPr/>
          <p:nvPr/>
        </p:nvSpPr>
        <p:spPr>
          <a:xfrm>
            <a:off x="1508760" y="2487168"/>
            <a:ext cx="2852928" cy="685800"/>
          </a:xfrm>
          <a:prstGeom prst="rect">
            <a:avLst/>
          </a:prstGeom>
          <a:noFill/>
          <a:ln/>
        </p:spPr>
        <p:txBody>
          <a:bodyPr wrap="square" lIns="0" tIns="0" rIns="0" bIns="0" rtlCol="0" anchor="ctr"/>
          <a:lstStyle/>
          <a:p>
            <a:pPr indent="0" marL="0">
              <a:lnSpc>
                <a:spcPct val="104000"/>
              </a:lnSpc>
              <a:buNone/>
            </a:pPr>
            <a:r>
              <a:rPr lang="en-US" sz="1150" dirty="0">
                <a:solidFill>
                  <a:srgbClr val="5A6B7B"/>
                </a:solidFill>
                <a:latin typeface="Calibri" pitchFamily="34" charset="0"/>
                <a:ea typeface="Calibri" pitchFamily="34" charset="-122"/>
                <a:cs typeface="Calibri" pitchFamily="34" charset="-120"/>
              </a:rPr>
              <a:t>Queries against large filesystems compete with active production workloads.</a:t>
            </a:r>
            <a:endParaRPr lang="en-US" sz="1150" dirty="0"/>
          </a:p>
        </p:txBody>
      </p:sp>
      <p:sp>
        <p:nvSpPr>
          <p:cNvPr id="10" name="Shape 7"/>
          <p:cNvSpPr/>
          <p:nvPr/>
        </p:nvSpPr>
        <p:spPr>
          <a:xfrm>
            <a:off x="4645152" y="1920240"/>
            <a:ext cx="3950208" cy="1325880"/>
          </a:xfrm>
          <a:prstGeom prst="roundRect">
            <a:avLst>
              <a:gd name="adj" fmla="val 4828"/>
            </a:avLst>
          </a:prstGeom>
          <a:solidFill>
            <a:srgbClr val="FFFFFF"/>
          </a:solidFill>
          <a:ln/>
          <a:effectLst>
            <a:outerShdw sx="100000" sy="100000" kx="0" ky="0" algn="bl" rotWithShape="0" blurRad="88900" dist="38100" dir="5400000">
              <a:srgbClr val="0B1F33">
                <a:alpha val="13000"/>
              </a:srgbClr>
            </a:outerShdw>
          </a:effectLst>
        </p:spPr>
      </p:sp>
      <p:sp>
        <p:nvSpPr>
          <p:cNvPr id="11" name="Shape 8"/>
          <p:cNvSpPr/>
          <p:nvPr/>
        </p:nvSpPr>
        <p:spPr>
          <a:xfrm>
            <a:off x="4873752" y="2167128"/>
            <a:ext cx="566928" cy="566928"/>
          </a:xfrm>
          <a:prstGeom prst="ellipse">
            <a:avLst/>
          </a:prstGeom>
          <a:solidFill>
            <a:srgbClr val="F5A623"/>
          </a:solidFill>
          <a:ln/>
        </p:spPr>
      </p:sp>
      <p:pic>
        <p:nvPicPr>
          <p:cNvPr id="12" name="Image 1" descr="preencoded.png">    </p:cNvPr>
          <p:cNvPicPr>
            <a:picLocks noChangeAspect="1"/>
          </p:cNvPicPr>
          <p:nvPr/>
        </p:nvPicPr>
        <p:blipFill>
          <a:blip r:embed="rId2"/>
          <a:stretch>
            <a:fillRect/>
          </a:stretch>
        </p:blipFill>
        <p:spPr>
          <a:xfrm>
            <a:off x="5021153" y="2314529"/>
            <a:ext cx="272125" cy="272125"/>
          </a:xfrm>
          <a:prstGeom prst="rect">
            <a:avLst/>
          </a:prstGeom>
        </p:spPr>
      </p:pic>
      <p:sp>
        <p:nvSpPr>
          <p:cNvPr id="13" name="Text 9"/>
          <p:cNvSpPr/>
          <p:nvPr/>
        </p:nvSpPr>
        <p:spPr>
          <a:xfrm>
            <a:off x="5605272" y="2121408"/>
            <a:ext cx="2852928" cy="365760"/>
          </a:xfrm>
          <a:prstGeom prst="rect">
            <a:avLst/>
          </a:prstGeom>
          <a:noFill/>
          <a:ln/>
        </p:spPr>
        <p:txBody>
          <a:bodyPr wrap="square" lIns="0" tIns="0" rIns="0" bIns="0" rtlCol="0" anchor="ctr"/>
          <a:lstStyle/>
          <a:p>
            <a:pPr indent="0" marL="0">
              <a:buNone/>
            </a:pPr>
            <a:r>
              <a:rPr lang="en-US" sz="1550" b="1" dirty="0">
                <a:solidFill>
                  <a:srgbClr val="0B1F33"/>
                </a:solidFill>
                <a:latin typeface="Cambria" pitchFamily="34" charset="0"/>
                <a:ea typeface="Cambria" pitchFamily="34" charset="-122"/>
                <a:cs typeface="Cambria" pitchFamily="34" charset="-120"/>
              </a:rPr>
              <a:t>Security as an afterthought</a:t>
            </a:r>
            <a:endParaRPr lang="en-US" sz="1550" dirty="0"/>
          </a:p>
        </p:txBody>
      </p:sp>
      <p:sp>
        <p:nvSpPr>
          <p:cNvPr id="14" name="Text 10"/>
          <p:cNvSpPr/>
          <p:nvPr/>
        </p:nvSpPr>
        <p:spPr>
          <a:xfrm>
            <a:off x="5605272" y="2487168"/>
            <a:ext cx="2852928" cy="685800"/>
          </a:xfrm>
          <a:prstGeom prst="rect">
            <a:avLst/>
          </a:prstGeom>
          <a:noFill/>
          <a:ln/>
        </p:spPr>
        <p:txBody>
          <a:bodyPr wrap="square" lIns="0" tIns="0" rIns="0" bIns="0" rtlCol="0" anchor="ctr"/>
          <a:lstStyle/>
          <a:p>
            <a:pPr indent="0" marL="0">
              <a:lnSpc>
                <a:spcPct val="104000"/>
              </a:lnSpc>
              <a:buNone/>
            </a:pPr>
            <a:r>
              <a:rPr lang="en-US" sz="1150" dirty="0">
                <a:solidFill>
                  <a:srgbClr val="5A6B7B"/>
                </a:solidFill>
                <a:latin typeface="Calibri" pitchFamily="34" charset="0"/>
                <a:ea typeface="Calibri" pitchFamily="34" charset="-122"/>
                <a:cs typeface="Calibri" pitchFamily="34" charset="-120"/>
              </a:rPr>
              <a:t>Results must be filtered to only what a user — or an AI agent — is authorized to see, including filenames.</a:t>
            </a:r>
            <a:endParaRPr lang="en-US" sz="1150" dirty="0"/>
          </a:p>
        </p:txBody>
      </p:sp>
      <p:sp>
        <p:nvSpPr>
          <p:cNvPr id="15" name="Shape 11"/>
          <p:cNvSpPr/>
          <p:nvPr/>
        </p:nvSpPr>
        <p:spPr>
          <a:xfrm>
            <a:off x="548640" y="3410712"/>
            <a:ext cx="3950208" cy="1325880"/>
          </a:xfrm>
          <a:prstGeom prst="roundRect">
            <a:avLst>
              <a:gd name="adj" fmla="val 4828"/>
            </a:avLst>
          </a:prstGeom>
          <a:solidFill>
            <a:srgbClr val="FFFFFF"/>
          </a:solidFill>
          <a:ln/>
          <a:effectLst>
            <a:outerShdw sx="100000" sy="100000" kx="0" ky="0" algn="bl" rotWithShape="0" blurRad="88900" dist="38100" dir="5400000">
              <a:srgbClr val="0B1F33">
                <a:alpha val="13000"/>
              </a:srgbClr>
            </a:outerShdw>
          </a:effectLst>
        </p:spPr>
      </p:sp>
      <p:sp>
        <p:nvSpPr>
          <p:cNvPr id="16" name="Shape 12"/>
          <p:cNvSpPr/>
          <p:nvPr/>
        </p:nvSpPr>
        <p:spPr>
          <a:xfrm>
            <a:off x="777240" y="3657600"/>
            <a:ext cx="566928" cy="566928"/>
          </a:xfrm>
          <a:prstGeom prst="ellipse">
            <a:avLst/>
          </a:prstGeom>
          <a:solidFill>
            <a:srgbClr val="F5A623"/>
          </a:solidFill>
          <a:ln/>
        </p:spPr>
      </p:sp>
      <p:pic>
        <p:nvPicPr>
          <p:cNvPr id="17" name="Image 2" descr="preencoded.png">    </p:cNvPr>
          <p:cNvPicPr>
            <a:picLocks noChangeAspect="1"/>
          </p:cNvPicPr>
          <p:nvPr/>
        </p:nvPicPr>
        <p:blipFill>
          <a:blip r:embed="rId3"/>
          <a:stretch>
            <a:fillRect/>
          </a:stretch>
        </p:blipFill>
        <p:spPr>
          <a:xfrm>
            <a:off x="924641" y="3805001"/>
            <a:ext cx="272125" cy="272125"/>
          </a:xfrm>
          <a:prstGeom prst="rect">
            <a:avLst/>
          </a:prstGeom>
        </p:spPr>
      </p:pic>
      <p:sp>
        <p:nvSpPr>
          <p:cNvPr id="18" name="Text 13"/>
          <p:cNvSpPr/>
          <p:nvPr/>
        </p:nvSpPr>
        <p:spPr>
          <a:xfrm>
            <a:off x="1508760" y="3611880"/>
            <a:ext cx="2852928" cy="365760"/>
          </a:xfrm>
          <a:prstGeom prst="rect">
            <a:avLst/>
          </a:prstGeom>
          <a:noFill/>
          <a:ln/>
        </p:spPr>
        <p:txBody>
          <a:bodyPr wrap="square" lIns="0" tIns="0" rIns="0" bIns="0" rtlCol="0" anchor="ctr"/>
          <a:lstStyle/>
          <a:p>
            <a:pPr indent="0" marL="0">
              <a:buNone/>
            </a:pPr>
            <a:r>
              <a:rPr lang="en-US" sz="1550" b="1" dirty="0">
                <a:solidFill>
                  <a:srgbClr val="0B1F33"/>
                </a:solidFill>
                <a:latin typeface="Cambria" pitchFamily="34" charset="0"/>
                <a:ea typeface="Cambria" pitchFamily="34" charset="-122"/>
                <a:cs typeface="Cambria" pitchFamily="34" charset="-120"/>
              </a:rPr>
              <a:t>Heterogeneous storage</a:t>
            </a:r>
            <a:endParaRPr lang="en-US" sz="1550" dirty="0"/>
          </a:p>
        </p:txBody>
      </p:sp>
      <p:sp>
        <p:nvSpPr>
          <p:cNvPr id="19" name="Text 14"/>
          <p:cNvSpPr/>
          <p:nvPr/>
        </p:nvSpPr>
        <p:spPr>
          <a:xfrm>
            <a:off x="1508760" y="3977640"/>
            <a:ext cx="2852928" cy="685800"/>
          </a:xfrm>
          <a:prstGeom prst="rect">
            <a:avLst/>
          </a:prstGeom>
          <a:noFill/>
          <a:ln/>
        </p:spPr>
        <p:txBody>
          <a:bodyPr wrap="square" lIns="0" tIns="0" rIns="0" bIns="0" rtlCol="0" anchor="ctr"/>
          <a:lstStyle/>
          <a:p>
            <a:pPr indent="0" marL="0">
              <a:lnSpc>
                <a:spcPct val="104000"/>
              </a:lnSpc>
              <a:buNone/>
            </a:pPr>
            <a:r>
              <a:rPr lang="en-US" sz="1150" dirty="0">
                <a:solidFill>
                  <a:srgbClr val="5A6B7B"/>
                </a:solidFill>
                <a:latin typeface="Calibri" pitchFamily="34" charset="0"/>
                <a:ea typeface="Calibri" pitchFamily="34" charset="-122"/>
                <a:cs typeface="Calibri" pitchFamily="34" charset="-120"/>
              </a:rPr>
              <a:t>POSIX, object stores, tape archives and HPC scratch each have different, incompatible metadata tooling.</a:t>
            </a:r>
            <a:endParaRPr lang="en-US" sz="1150" dirty="0"/>
          </a:p>
        </p:txBody>
      </p:sp>
      <p:sp>
        <p:nvSpPr>
          <p:cNvPr id="20" name="Shape 15"/>
          <p:cNvSpPr/>
          <p:nvPr/>
        </p:nvSpPr>
        <p:spPr>
          <a:xfrm>
            <a:off x="4645152" y="3410712"/>
            <a:ext cx="3950208" cy="1325880"/>
          </a:xfrm>
          <a:prstGeom prst="roundRect">
            <a:avLst>
              <a:gd name="adj" fmla="val 4828"/>
            </a:avLst>
          </a:prstGeom>
          <a:solidFill>
            <a:srgbClr val="FFFFFF"/>
          </a:solidFill>
          <a:ln/>
          <a:effectLst>
            <a:outerShdw sx="100000" sy="100000" kx="0" ky="0" algn="bl" rotWithShape="0" blurRad="88900" dist="38100" dir="5400000">
              <a:srgbClr val="0B1F33">
                <a:alpha val="13000"/>
              </a:srgbClr>
            </a:outerShdw>
          </a:effectLst>
        </p:spPr>
      </p:sp>
      <p:sp>
        <p:nvSpPr>
          <p:cNvPr id="21" name="Shape 16"/>
          <p:cNvSpPr/>
          <p:nvPr/>
        </p:nvSpPr>
        <p:spPr>
          <a:xfrm>
            <a:off x="4873752" y="3657600"/>
            <a:ext cx="566928" cy="566928"/>
          </a:xfrm>
          <a:prstGeom prst="ellipse">
            <a:avLst/>
          </a:prstGeom>
          <a:solidFill>
            <a:srgbClr val="F5A623"/>
          </a:solidFill>
          <a:ln/>
        </p:spPr>
      </p:sp>
      <p:pic>
        <p:nvPicPr>
          <p:cNvPr id="22" name="Image 3" descr="preencoded.png">    </p:cNvPr>
          <p:cNvPicPr>
            <a:picLocks noChangeAspect="1"/>
          </p:cNvPicPr>
          <p:nvPr/>
        </p:nvPicPr>
        <p:blipFill>
          <a:blip r:embed="rId4"/>
          <a:stretch>
            <a:fillRect/>
          </a:stretch>
        </p:blipFill>
        <p:spPr>
          <a:xfrm>
            <a:off x="5021153" y="3805001"/>
            <a:ext cx="272125" cy="272125"/>
          </a:xfrm>
          <a:prstGeom prst="rect">
            <a:avLst/>
          </a:prstGeom>
        </p:spPr>
      </p:pic>
      <p:sp>
        <p:nvSpPr>
          <p:cNvPr id="23" name="Text 17"/>
          <p:cNvSpPr/>
          <p:nvPr/>
        </p:nvSpPr>
        <p:spPr>
          <a:xfrm>
            <a:off x="5605272" y="3611880"/>
            <a:ext cx="2852928" cy="365760"/>
          </a:xfrm>
          <a:prstGeom prst="rect">
            <a:avLst/>
          </a:prstGeom>
          <a:noFill/>
          <a:ln/>
        </p:spPr>
        <p:txBody>
          <a:bodyPr wrap="square" lIns="0" tIns="0" rIns="0" bIns="0" rtlCol="0" anchor="ctr"/>
          <a:lstStyle/>
          <a:p>
            <a:pPr indent="0" marL="0">
              <a:buNone/>
            </a:pPr>
            <a:r>
              <a:rPr lang="en-US" sz="1550" b="1" dirty="0">
                <a:solidFill>
                  <a:srgbClr val="0B1F33"/>
                </a:solidFill>
                <a:latin typeface="Cambria" pitchFamily="34" charset="0"/>
                <a:ea typeface="Cambria" pitchFamily="34" charset="-122"/>
                <a:cs typeface="Cambria" pitchFamily="34" charset="-120"/>
              </a:rPr>
              <a:t>Built for admins, not users</a:t>
            </a:r>
            <a:endParaRPr lang="en-US" sz="1550" dirty="0"/>
          </a:p>
        </p:txBody>
      </p:sp>
      <p:sp>
        <p:nvSpPr>
          <p:cNvPr id="24" name="Text 18"/>
          <p:cNvSpPr/>
          <p:nvPr/>
        </p:nvSpPr>
        <p:spPr>
          <a:xfrm>
            <a:off x="5605272" y="3977640"/>
            <a:ext cx="2852928" cy="685800"/>
          </a:xfrm>
          <a:prstGeom prst="rect">
            <a:avLst/>
          </a:prstGeom>
          <a:noFill/>
          <a:ln/>
        </p:spPr>
        <p:txBody>
          <a:bodyPr wrap="square" lIns="0" tIns="0" rIns="0" bIns="0" rtlCol="0" anchor="ctr"/>
          <a:lstStyle/>
          <a:p>
            <a:pPr indent="0" marL="0">
              <a:lnSpc>
                <a:spcPct val="104000"/>
              </a:lnSpc>
              <a:buNone/>
            </a:pPr>
            <a:r>
              <a:rPr lang="en-US" sz="1150" dirty="0">
                <a:solidFill>
                  <a:srgbClr val="5A6B7B"/>
                </a:solidFill>
                <a:latin typeface="Calibri" pitchFamily="34" charset="0"/>
                <a:ea typeface="Calibri" pitchFamily="34" charset="-122"/>
                <a:cs typeface="Calibri" pitchFamily="34" charset="-120"/>
              </a:rPr>
              <a:t>Commercial indexers target system administrators; access-controlled, user-facing search is rare.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300" kern="0" dirty="0">
                <a:solidFill>
                  <a:srgbClr val="2E8BAB"/>
                </a:solidFill>
                <a:latin typeface="Calibri" pitchFamily="34" charset="0"/>
                <a:ea typeface="Calibri" pitchFamily="34" charset="-122"/>
                <a:cs typeface="Calibri" pitchFamily="34" charset="-120"/>
              </a:rPr>
              <a:t>ARCHITECTURE · CORE CONCEPT</a:t>
            </a:r>
            <a:endParaRPr lang="en-US" sz="1200" dirty="0"/>
          </a:p>
        </p:txBody>
      </p:sp>
      <p:sp>
        <p:nvSpPr>
          <p:cNvPr id="3" name="Text 1"/>
          <p:cNvSpPr/>
          <p:nvPr/>
        </p:nvSpPr>
        <p:spPr>
          <a:xfrm>
            <a:off x="548640" y="658368"/>
            <a:ext cx="8046720" cy="640080"/>
          </a:xfrm>
          <a:prstGeom prst="rect">
            <a:avLst/>
          </a:prstGeom>
          <a:noFill/>
          <a:ln/>
        </p:spPr>
        <p:txBody>
          <a:bodyPr wrap="square" lIns="0" tIns="0" rIns="0" bIns="0" rtlCol="0" anchor="ctr"/>
          <a:lstStyle/>
          <a:p>
            <a:pPr indent="0" marL="0">
              <a:buNone/>
            </a:pPr>
            <a:r>
              <a:rPr lang="en-US" sz="3000" b="1" dirty="0">
                <a:solidFill>
                  <a:srgbClr val="0B1F33"/>
                </a:solidFill>
                <a:latin typeface="Cambria" pitchFamily="34" charset="0"/>
                <a:ea typeface="Cambria" pitchFamily="34" charset="-122"/>
                <a:cs typeface="Cambria" pitchFamily="34" charset="-120"/>
              </a:rPr>
              <a:t>A mirror of your filesystem — made of databases</a:t>
            </a:r>
            <a:endParaRPr lang="en-US" sz="3000" dirty="0"/>
          </a:p>
        </p:txBody>
      </p:sp>
      <p:sp>
        <p:nvSpPr>
          <p:cNvPr id="4" name="Text 2"/>
          <p:cNvSpPr/>
          <p:nvPr/>
        </p:nvSpPr>
        <p:spPr>
          <a:xfrm>
            <a:off x="548640" y="1371600"/>
            <a:ext cx="8138160" cy="640080"/>
          </a:xfrm>
          <a:prstGeom prst="rect">
            <a:avLst/>
          </a:prstGeom>
          <a:noFill/>
          <a:ln/>
        </p:spPr>
        <p:txBody>
          <a:bodyPr wrap="square" lIns="0" tIns="0" rIns="0" bIns="0" rtlCol="0" anchor="ctr"/>
          <a:lstStyle/>
          <a:p>
            <a:pPr indent="0" marL="0">
              <a:lnSpc>
                <a:spcPct val="110000"/>
              </a:lnSpc>
              <a:buNone/>
            </a:pPr>
            <a:r>
              <a:rPr lang="en-US" sz="1400" dirty="0">
                <a:solidFill>
                  <a:srgbClr val="1B2A38"/>
                </a:solidFill>
                <a:latin typeface="Calibri" pitchFamily="34" charset="0"/>
                <a:ea typeface="Calibri" pitchFamily="34" charset="-122"/>
                <a:cs typeface="Calibri" pitchFamily="34" charset="-120"/>
              </a:rPr>
              <a:t>Wherever the source has a directory, the GUFI index has a matching directory with identical ownership, permissions, uid and gid. Inside each one lives a single SQLite file: db.db.</a:t>
            </a:r>
            <a:endParaRPr lang="en-US" sz="1400" dirty="0"/>
          </a:p>
        </p:txBody>
      </p:sp>
      <p:sp>
        <p:nvSpPr>
          <p:cNvPr id="5" name="Text 3"/>
          <p:cNvSpPr/>
          <p:nvPr/>
        </p:nvSpPr>
        <p:spPr>
          <a:xfrm>
            <a:off x="640080" y="2148840"/>
            <a:ext cx="3291840" cy="228600"/>
          </a:xfrm>
          <a:prstGeom prst="rect">
            <a:avLst/>
          </a:prstGeom>
          <a:noFill/>
          <a:ln/>
        </p:spPr>
        <p:txBody>
          <a:bodyPr wrap="square" lIns="0" tIns="0" rIns="0" bIns="0" rtlCol="0" anchor="ctr"/>
          <a:lstStyle/>
          <a:p>
            <a:pPr algn="ctr" indent="0" marL="0">
              <a:buNone/>
            </a:pPr>
            <a:r>
              <a:rPr lang="en-US" sz="1100" b="1" spc="100" kern="0" dirty="0">
                <a:solidFill>
                  <a:srgbClr val="5A6B7B"/>
                </a:solidFill>
                <a:latin typeface="Calibri" pitchFamily="34" charset="0"/>
                <a:ea typeface="Calibri" pitchFamily="34" charset="-122"/>
                <a:cs typeface="Calibri" pitchFamily="34" charset="-120"/>
              </a:rPr>
              <a:t>SOURCE FILESYSTEM</a:t>
            </a:r>
            <a:endParaRPr lang="en-US" sz="1100" dirty="0"/>
          </a:p>
        </p:txBody>
      </p:sp>
      <p:sp>
        <p:nvSpPr>
          <p:cNvPr id="6" name="Shape 4"/>
          <p:cNvSpPr/>
          <p:nvPr/>
        </p:nvSpPr>
        <p:spPr>
          <a:xfrm>
            <a:off x="868680" y="2450592"/>
            <a:ext cx="2834640" cy="384048"/>
          </a:xfrm>
          <a:prstGeom prst="roundRect">
            <a:avLst>
              <a:gd name="adj" fmla="val 11905"/>
            </a:avLst>
          </a:prstGeom>
          <a:solidFill>
            <a:srgbClr val="FFFFFF"/>
          </a:solidFill>
          <a:ln w="12700">
            <a:solidFill>
              <a:srgbClr val="1C7293"/>
            </a:solidFill>
            <a:prstDash val="solid"/>
          </a:ln>
        </p:spPr>
      </p:sp>
      <p:sp>
        <p:nvSpPr>
          <p:cNvPr id="7" name="Text 5"/>
          <p:cNvSpPr/>
          <p:nvPr/>
        </p:nvSpPr>
        <p:spPr>
          <a:xfrm>
            <a:off x="960120" y="2450592"/>
            <a:ext cx="2697480" cy="384048"/>
          </a:xfrm>
          <a:prstGeom prst="rect">
            <a:avLst/>
          </a:prstGeom>
          <a:noFill/>
          <a:ln/>
        </p:spPr>
        <p:txBody>
          <a:bodyPr wrap="square" lIns="0" tIns="0" rIns="0" bIns="0" rtlCol="0" anchor="ctr"/>
          <a:lstStyle/>
          <a:p>
            <a:pPr indent="0" marL="0">
              <a:buNone/>
            </a:pPr>
            <a:r>
              <a:rPr lang="en-US" sz="1100" dirty="0">
                <a:solidFill>
                  <a:srgbClr val="0B1F33"/>
                </a:solidFill>
                <a:latin typeface="Calibri" pitchFamily="34" charset="0"/>
                <a:ea typeface="Calibri" pitchFamily="34" charset="-122"/>
                <a:cs typeface="Calibri" pitchFamily="34" charset="-120"/>
              </a:rPr>
              <a:t>/project</a:t>
            </a:r>
            <a:endParaRPr lang="en-US" sz="1100" dirty="0"/>
          </a:p>
        </p:txBody>
      </p:sp>
      <p:sp>
        <p:nvSpPr>
          <p:cNvPr id="8" name="Shape 6"/>
          <p:cNvSpPr/>
          <p:nvPr/>
        </p:nvSpPr>
        <p:spPr>
          <a:xfrm>
            <a:off x="1234440" y="2926080"/>
            <a:ext cx="2468880" cy="384048"/>
          </a:xfrm>
          <a:prstGeom prst="roundRect">
            <a:avLst>
              <a:gd name="adj" fmla="val 11905"/>
            </a:avLst>
          </a:prstGeom>
          <a:solidFill>
            <a:srgbClr val="FFFFFF"/>
          </a:solidFill>
          <a:ln w="12700">
            <a:solidFill>
              <a:srgbClr val="1C7293"/>
            </a:solidFill>
            <a:prstDash val="solid"/>
          </a:ln>
        </p:spPr>
      </p:sp>
      <p:sp>
        <p:nvSpPr>
          <p:cNvPr id="9" name="Text 7"/>
          <p:cNvSpPr/>
          <p:nvPr/>
        </p:nvSpPr>
        <p:spPr>
          <a:xfrm>
            <a:off x="1325880" y="2926080"/>
            <a:ext cx="2331720" cy="384048"/>
          </a:xfrm>
          <a:prstGeom prst="rect">
            <a:avLst/>
          </a:prstGeom>
          <a:noFill/>
          <a:ln/>
        </p:spPr>
        <p:txBody>
          <a:bodyPr wrap="square" lIns="0" tIns="0" rIns="0" bIns="0" rtlCol="0" anchor="ctr"/>
          <a:lstStyle/>
          <a:p>
            <a:pPr indent="0" marL="0">
              <a:buNone/>
            </a:pPr>
            <a:r>
              <a:rPr lang="en-US" sz="1100" dirty="0">
                <a:solidFill>
                  <a:srgbClr val="0B1F33"/>
                </a:solidFill>
                <a:latin typeface="Calibri" pitchFamily="34" charset="0"/>
                <a:ea typeface="Calibri" pitchFamily="34" charset="-122"/>
                <a:cs typeface="Calibri" pitchFamily="34" charset="-120"/>
              </a:rPr>
              <a:t>  data/</a:t>
            </a:r>
            <a:endParaRPr lang="en-US" sz="1100" dirty="0"/>
          </a:p>
        </p:txBody>
      </p:sp>
      <p:sp>
        <p:nvSpPr>
          <p:cNvPr id="10" name="Shape 8"/>
          <p:cNvSpPr/>
          <p:nvPr/>
        </p:nvSpPr>
        <p:spPr>
          <a:xfrm>
            <a:off x="1600200" y="3401568"/>
            <a:ext cx="2103120" cy="384048"/>
          </a:xfrm>
          <a:prstGeom prst="roundRect">
            <a:avLst>
              <a:gd name="adj" fmla="val 11905"/>
            </a:avLst>
          </a:prstGeom>
          <a:solidFill>
            <a:srgbClr val="FFFFFF"/>
          </a:solidFill>
          <a:ln w="12700">
            <a:solidFill>
              <a:srgbClr val="1C7293"/>
            </a:solidFill>
            <a:prstDash val="solid"/>
          </a:ln>
        </p:spPr>
      </p:sp>
      <p:sp>
        <p:nvSpPr>
          <p:cNvPr id="11" name="Text 9"/>
          <p:cNvSpPr/>
          <p:nvPr/>
        </p:nvSpPr>
        <p:spPr>
          <a:xfrm>
            <a:off x="1691640" y="3401568"/>
            <a:ext cx="1965960" cy="384048"/>
          </a:xfrm>
          <a:prstGeom prst="rect">
            <a:avLst/>
          </a:prstGeom>
          <a:noFill/>
          <a:ln/>
        </p:spPr>
        <p:txBody>
          <a:bodyPr wrap="square" lIns="0" tIns="0" rIns="0" bIns="0" rtlCol="0" anchor="ctr"/>
          <a:lstStyle/>
          <a:p>
            <a:pPr indent="0" marL="0">
              <a:buNone/>
            </a:pPr>
            <a:r>
              <a:rPr lang="en-US" sz="1100" dirty="0">
                <a:solidFill>
                  <a:srgbClr val="0B1F33"/>
                </a:solidFill>
                <a:latin typeface="Calibri" pitchFamily="34" charset="0"/>
                <a:ea typeface="Calibri" pitchFamily="34" charset="-122"/>
                <a:cs typeface="Calibri" pitchFamily="34" charset="-120"/>
              </a:rPr>
              <a:t>    run01.dat</a:t>
            </a:r>
            <a:endParaRPr lang="en-US" sz="1100" dirty="0"/>
          </a:p>
        </p:txBody>
      </p:sp>
      <p:sp>
        <p:nvSpPr>
          <p:cNvPr id="12" name="Shape 10"/>
          <p:cNvSpPr/>
          <p:nvPr/>
        </p:nvSpPr>
        <p:spPr>
          <a:xfrm>
            <a:off x="1234440" y="3877056"/>
            <a:ext cx="2468880" cy="384048"/>
          </a:xfrm>
          <a:prstGeom prst="roundRect">
            <a:avLst>
              <a:gd name="adj" fmla="val 11905"/>
            </a:avLst>
          </a:prstGeom>
          <a:solidFill>
            <a:srgbClr val="FFFFFF"/>
          </a:solidFill>
          <a:ln w="12700">
            <a:solidFill>
              <a:srgbClr val="1C7293"/>
            </a:solidFill>
            <a:prstDash val="solid"/>
          </a:ln>
        </p:spPr>
      </p:sp>
      <p:sp>
        <p:nvSpPr>
          <p:cNvPr id="13" name="Text 11"/>
          <p:cNvSpPr/>
          <p:nvPr/>
        </p:nvSpPr>
        <p:spPr>
          <a:xfrm>
            <a:off x="1325880" y="3877056"/>
            <a:ext cx="2331720" cy="384048"/>
          </a:xfrm>
          <a:prstGeom prst="rect">
            <a:avLst/>
          </a:prstGeom>
          <a:noFill/>
          <a:ln/>
        </p:spPr>
        <p:txBody>
          <a:bodyPr wrap="square" lIns="0" tIns="0" rIns="0" bIns="0" rtlCol="0" anchor="ctr"/>
          <a:lstStyle/>
          <a:p>
            <a:pPr indent="0" marL="0">
              <a:buNone/>
            </a:pPr>
            <a:r>
              <a:rPr lang="en-US" sz="1100" dirty="0">
                <a:solidFill>
                  <a:srgbClr val="0B1F33"/>
                </a:solidFill>
                <a:latin typeface="Calibri" pitchFamily="34" charset="0"/>
                <a:ea typeface="Calibri" pitchFamily="34" charset="-122"/>
                <a:cs typeface="Calibri" pitchFamily="34" charset="-120"/>
              </a:rPr>
              <a:t>  notes.txt</a:t>
            </a:r>
            <a:endParaRPr lang="en-US" sz="1100" dirty="0"/>
          </a:p>
        </p:txBody>
      </p:sp>
      <p:sp>
        <p:nvSpPr>
          <p:cNvPr id="14" name="Shape 12"/>
          <p:cNvSpPr/>
          <p:nvPr/>
        </p:nvSpPr>
        <p:spPr>
          <a:xfrm>
            <a:off x="4160520" y="2971800"/>
            <a:ext cx="713232" cy="713232"/>
          </a:xfrm>
          <a:prstGeom prst="ellipse">
            <a:avLst/>
          </a:prstGeom>
          <a:solidFill>
            <a:srgbClr val="2E8BAB"/>
          </a:solidFill>
          <a:ln/>
        </p:spPr>
      </p:sp>
      <p:pic>
        <p:nvPicPr>
          <p:cNvPr id="15" name="Image 0" descr="preencoded.png">    </p:cNvPr>
          <p:cNvPicPr>
            <a:picLocks noChangeAspect="1"/>
          </p:cNvPicPr>
          <p:nvPr/>
        </p:nvPicPr>
        <p:blipFill>
          <a:blip r:embed="rId1"/>
          <a:stretch>
            <a:fillRect/>
          </a:stretch>
        </p:blipFill>
        <p:spPr>
          <a:xfrm>
            <a:off x="4345960" y="3157240"/>
            <a:ext cx="342351" cy="342351"/>
          </a:xfrm>
          <a:prstGeom prst="rect">
            <a:avLst/>
          </a:prstGeom>
        </p:spPr>
      </p:pic>
      <p:sp>
        <p:nvSpPr>
          <p:cNvPr id="16" name="Text 13"/>
          <p:cNvSpPr/>
          <p:nvPr/>
        </p:nvSpPr>
        <p:spPr>
          <a:xfrm>
            <a:off x="3977640" y="3675888"/>
            <a:ext cx="1097280" cy="228600"/>
          </a:xfrm>
          <a:prstGeom prst="rect">
            <a:avLst/>
          </a:prstGeom>
          <a:noFill/>
          <a:ln/>
        </p:spPr>
        <p:txBody>
          <a:bodyPr wrap="square" lIns="0" tIns="0" rIns="0" bIns="0" rtlCol="0" anchor="ctr"/>
          <a:lstStyle/>
          <a:p>
            <a:pPr algn="ctr" indent="0" marL="0">
              <a:buNone/>
            </a:pPr>
            <a:r>
              <a:rPr lang="en-US" sz="1000" i="1" dirty="0">
                <a:solidFill>
                  <a:srgbClr val="5A6B7B"/>
                </a:solidFill>
                <a:latin typeface="Calibri" pitchFamily="34" charset="0"/>
                <a:ea typeface="Calibri" pitchFamily="34" charset="-122"/>
                <a:cs typeface="Calibri" pitchFamily="34" charset="-120"/>
              </a:rPr>
              <a:t>mirror</a:t>
            </a:r>
            <a:endParaRPr lang="en-US" sz="1000" dirty="0"/>
          </a:p>
        </p:txBody>
      </p:sp>
      <p:sp>
        <p:nvSpPr>
          <p:cNvPr id="17" name="Text 14"/>
          <p:cNvSpPr/>
          <p:nvPr/>
        </p:nvSpPr>
        <p:spPr>
          <a:xfrm>
            <a:off x="5257800" y="2148840"/>
            <a:ext cx="3291840" cy="228600"/>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GUFI INDEX TREE</a:t>
            </a:r>
            <a:endParaRPr lang="en-US" sz="1100" dirty="0"/>
          </a:p>
        </p:txBody>
      </p:sp>
      <p:sp>
        <p:nvSpPr>
          <p:cNvPr id="18" name="Shape 15"/>
          <p:cNvSpPr/>
          <p:nvPr/>
        </p:nvSpPr>
        <p:spPr>
          <a:xfrm>
            <a:off x="5486400" y="2450592"/>
            <a:ext cx="2834640" cy="384048"/>
          </a:xfrm>
          <a:prstGeom prst="roundRect">
            <a:avLst>
              <a:gd name="adj" fmla="val 11905"/>
            </a:avLst>
          </a:prstGeom>
          <a:solidFill>
            <a:srgbClr val="0B1F33"/>
          </a:solidFill>
          <a:ln w="12700">
            <a:solidFill>
              <a:srgbClr val="0B1F33"/>
            </a:solidFill>
            <a:prstDash val="solid"/>
          </a:ln>
          <a:effectLst>
            <a:outerShdw sx="100000" sy="100000" kx="0" ky="0" algn="bl" rotWithShape="0" blurRad="88900" dist="38100" dir="5400000">
              <a:srgbClr val="0B1F33">
                <a:alpha val="13000"/>
              </a:srgbClr>
            </a:outerShdw>
          </a:effectLst>
        </p:spPr>
      </p:sp>
      <p:sp>
        <p:nvSpPr>
          <p:cNvPr id="19" name="Text 16"/>
          <p:cNvSpPr/>
          <p:nvPr/>
        </p:nvSpPr>
        <p:spPr>
          <a:xfrm>
            <a:off x="5577840" y="2450592"/>
            <a:ext cx="269748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/project  → db.db</a:t>
            </a:r>
            <a:endParaRPr lang="en-US" sz="1100" dirty="0"/>
          </a:p>
        </p:txBody>
      </p:sp>
      <p:sp>
        <p:nvSpPr>
          <p:cNvPr id="20" name="Shape 17"/>
          <p:cNvSpPr/>
          <p:nvPr/>
        </p:nvSpPr>
        <p:spPr>
          <a:xfrm>
            <a:off x="5852160" y="2926080"/>
            <a:ext cx="2468880" cy="384048"/>
          </a:xfrm>
          <a:prstGeom prst="roundRect">
            <a:avLst>
              <a:gd name="adj" fmla="val 11905"/>
            </a:avLst>
          </a:prstGeom>
          <a:solidFill>
            <a:srgbClr val="0B1F33"/>
          </a:solidFill>
          <a:ln w="12700">
            <a:solidFill>
              <a:srgbClr val="0B1F33"/>
            </a:solidFill>
            <a:prstDash val="solid"/>
          </a:ln>
          <a:effectLst>
            <a:outerShdw sx="100000" sy="100000" kx="0" ky="0" algn="bl" rotWithShape="0" blurRad="88900" dist="38100" dir="5400000">
              <a:srgbClr val="0B1F33">
                <a:alpha val="13000"/>
              </a:srgbClr>
            </a:outerShdw>
          </a:effectLst>
        </p:spPr>
      </p:sp>
      <p:sp>
        <p:nvSpPr>
          <p:cNvPr id="21" name="Text 18"/>
          <p:cNvSpPr/>
          <p:nvPr/>
        </p:nvSpPr>
        <p:spPr>
          <a:xfrm>
            <a:off x="5943600" y="2926080"/>
            <a:ext cx="233172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data/  → db.db</a:t>
            </a:r>
            <a:endParaRPr lang="en-US" sz="1100" dirty="0"/>
          </a:p>
        </p:txBody>
      </p:sp>
      <p:sp>
        <p:nvSpPr>
          <p:cNvPr id="22" name="Shape 19"/>
          <p:cNvSpPr/>
          <p:nvPr/>
        </p:nvSpPr>
        <p:spPr>
          <a:xfrm>
            <a:off x="5852160" y="3401568"/>
            <a:ext cx="2468880" cy="384048"/>
          </a:xfrm>
          <a:prstGeom prst="roundRect">
            <a:avLst>
              <a:gd name="adj" fmla="val 11905"/>
            </a:avLst>
          </a:prstGeom>
          <a:solidFill>
            <a:srgbClr val="FFFFFF"/>
          </a:solidFill>
          <a:ln w="12700">
            <a:solidFill>
              <a:srgbClr val="1C7293"/>
            </a:solidFill>
            <a:prstDash val="solid"/>
          </a:ln>
        </p:spPr>
      </p:sp>
      <p:sp>
        <p:nvSpPr>
          <p:cNvPr id="23" name="Text 20"/>
          <p:cNvSpPr/>
          <p:nvPr/>
        </p:nvSpPr>
        <p:spPr>
          <a:xfrm>
            <a:off x="5943600" y="3401568"/>
            <a:ext cx="2331720" cy="384048"/>
          </a:xfrm>
          <a:prstGeom prst="rect">
            <a:avLst/>
          </a:prstGeom>
          <a:noFill/>
          <a:ln/>
        </p:spPr>
        <p:txBody>
          <a:bodyPr wrap="square" lIns="0" tIns="0" rIns="0" bIns="0" rtlCol="0" anchor="ctr"/>
          <a:lstStyle/>
          <a:p>
            <a:pPr indent="0" marL="0">
              <a:buNone/>
            </a:pPr>
            <a:r>
              <a:rPr lang="en-US" sz="1100" dirty="0">
                <a:solidFill>
                  <a:srgbClr val="0B1F33"/>
                </a:solidFill>
                <a:latin typeface="Calibri" pitchFamily="34" charset="0"/>
                <a:ea typeface="Calibri" pitchFamily="34" charset="-122"/>
                <a:cs typeface="Calibri" pitchFamily="34" charset="-120"/>
              </a:rPr>
              <a:t>  (same perms,</a:t>
            </a:r>
            <a:endParaRPr lang="en-US" sz="1100" dirty="0"/>
          </a:p>
        </p:txBody>
      </p:sp>
      <p:sp>
        <p:nvSpPr>
          <p:cNvPr id="24" name="Shape 21"/>
          <p:cNvSpPr/>
          <p:nvPr/>
        </p:nvSpPr>
        <p:spPr>
          <a:xfrm>
            <a:off x="5852160" y="3877056"/>
            <a:ext cx="2468880" cy="384048"/>
          </a:xfrm>
          <a:prstGeom prst="roundRect">
            <a:avLst>
              <a:gd name="adj" fmla="val 11905"/>
            </a:avLst>
          </a:prstGeom>
          <a:solidFill>
            <a:srgbClr val="FFFFFF"/>
          </a:solidFill>
          <a:ln w="12700">
            <a:solidFill>
              <a:srgbClr val="1C7293"/>
            </a:solidFill>
            <a:prstDash val="solid"/>
          </a:ln>
        </p:spPr>
      </p:sp>
      <p:sp>
        <p:nvSpPr>
          <p:cNvPr id="25" name="Text 22"/>
          <p:cNvSpPr/>
          <p:nvPr/>
        </p:nvSpPr>
        <p:spPr>
          <a:xfrm>
            <a:off x="5943600" y="3877056"/>
            <a:ext cx="2331720" cy="384048"/>
          </a:xfrm>
          <a:prstGeom prst="rect">
            <a:avLst/>
          </a:prstGeom>
          <a:noFill/>
          <a:ln/>
        </p:spPr>
        <p:txBody>
          <a:bodyPr wrap="square" lIns="0" tIns="0" rIns="0" bIns="0" rtlCol="0" anchor="ctr"/>
          <a:lstStyle/>
          <a:p>
            <a:pPr indent="0" marL="0">
              <a:buNone/>
            </a:pPr>
            <a:r>
              <a:rPr lang="en-US" sz="1100" dirty="0">
                <a:solidFill>
                  <a:srgbClr val="0B1F33"/>
                </a:solidFill>
                <a:latin typeface="Calibri" pitchFamily="34" charset="0"/>
                <a:ea typeface="Calibri" pitchFamily="34" charset="-122"/>
                <a:cs typeface="Calibri" pitchFamily="34" charset="-120"/>
              </a:rPr>
              <a:t>   uid / gid)</a:t>
            </a:r>
            <a:endParaRPr lang="en-US" sz="1100" dirty="0"/>
          </a:p>
        </p:txBody>
      </p:sp>
      <p:sp>
        <p:nvSpPr>
          <p:cNvPr id="26" name="Text 23"/>
          <p:cNvSpPr/>
          <p:nvPr/>
        </p:nvSpPr>
        <p:spPr>
          <a:xfrm>
            <a:off x="548640" y="4498848"/>
            <a:ext cx="8138160" cy="457200"/>
          </a:xfrm>
          <a:prstGeom prst="rect">
            <a:avLst/>
          </a:prstGeom>
          <a:noFill/>
          <a:ln/>
        </p:spPr>
        <p:txBody>
          <a:bodyPr wrap="square" lIns="0" tIns="0" rIns="0" bIns="0" rtlCol="0" anchor="ctr"/>
          <a:lstStyle/>
          <a:p>
            <a:pPr indent="0" marL="0">
              <a:buNone/>
            </a:pPr>
            <a:r>
              <a:rPr lang="en-US" sz="1200" dirty="0">
                <a:solidFill>
                  <a:srgbClr val="1B2A38"/>
                </a:solidFill>
                <a:latin typeface="Calibri" pitchFamily="34" charset="0"/>
                <a:ea typeface="Calibri" pitchFamily="34" charset="-122"/>
                <a:cs typeface="Calibri" pitchFamily="34" charset="-120"/>
              </a:rPr>
              <a:t>Each db.db holds three tables — </a:t>
            </a:r>
            <a:pPr indent="0" marL="0">
              <a:buNone/>
            </a:pPr>
            <a:r>
              <a:rPr lang="en-US" sz="1200" b="1" dirty="0">
                <a:solidFill>
                  <a:srgbClr val="1C7293"/>
                </a:solidFill>
                <a:latin typeface="Calibri" pitchFamily="34" charset="0"/>
                <a:ea typeface="Calibri" pitchFamily="34" charset="-122"/>
                <a:cs typeface="Calibri" pitchFamily="34" charset="-120"/>
              </a:rPr>
              <a:t>entries</a:t>
            </a:r>
            <a:pPr indent="0" marL="0">
              <a:buNone/>
            </a:pPr>
            <a:r>
              <a:rPr lang="en-US" sz="1200" dirty="0">
                <a:solidFill>
                  <a:srgbClr val="1B2A38"/>
                </a:solidFill>
                <a:latin typeface="Calibri" pitchFamily="34" charset="0"/>
                <a:ea typeface="Calibri" pitchFamily="34" charset="-122"/>
                <a:cs typeface="Calibri" pitchFamily="34" charset="-120"/>
              </a:rPr>
              <a:t> (per-file metadata), </a:t>
            </a:r>
            <a:pPr indent="0" marL="0">
              <a:buNone/>
            </a:pPr>
            <a:r>
              <a:rPr lang="en-US" sz="1200" b="1" dirty="0">
                <a:solidFill>
                  <a:srgbClr val="1C7293"/>
                </a:solidFill>
                <a:latin typeface="Calibri" pitchFamily="34" charset="0"/>
                <a:ea typeface="Calibri" pitchFamily="34" charset="-122"/>
                <a:cs typeface="Calibri" pitchFamily="34" charset="-120"/>
              </a:rPr>
              <a:t>summary</a:t>
            </a:r>
            <a:pPr indent="0" marL="0">
              <a:buNone/>
            </a:pPr>
            <a:r>
              <a:rPr lang="en-US" sz="1200" dirty="0">
                <a:solidFill>
                  <a:srgbClr val="1B2A38"/>
                </a:solidFill>
                <a:latin typeface="Calibri" pitchFamily="34" charset="0"/>
                <a:ea typeface="Calibri" pitchFamily="34" charset="-122"/>
                <a:cs typeface="Calibri" pitchFamily="34" charset="-120"/>
              </a:rPr>
              <a:t> (directory aggregates) and an optional </a:t>
            </a:r>
            <a:pPr indent="0" marL="0">
              <a:buNone/>
            </a:pPr>
            <a:r>
              <a:rPr lang="en-US" sz="1200" b="1" dirty="0">
                <a:solidFill>
                  <a:srgbClr val="1C7293"/>
                </a:solidFill>
                <a:latin typeface="Calibri" pitchFamily="34" charset="0"/>
                <a:ea typeface="Calibri" pitchFamily="34" charset="-122"/>
                <a:cs typeface="Calibri" pitchFamily="34" charset="-120"/>
              </a:rPr>
              <a:t>treesummary</a:t>
            </a:r>
            <a:pPr indent="0" marL="0">
              <a:buNone/>
            </a:pPr>
            <a:r>
              <a:rPr lang="en-US" sz="1200" dirty="0">
                <a:solidFill>
                  <a:srgbClr val="1B2A38"/>
                </a:solidFill>
                <a:latin typeface="Calibri" pitchFamily="34" charset="0"/>
                <a:ea typeface="Calibri" pitchFamily="34" charset="-122"/>
                <a:cs typeface="Calibri" pitchFamily="34" charset="-120"/>
              </a:rPr>
              <a:t> (whole-subtree aggregates).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indent="0" marL="0">
              <a:buNone/>
            </a:pPr>
            <a:r>
              <a:rPr lang="en-US" sz="1200" b="1" spc="300" kern="0" dirty="0">
                <a:solidFill>
                  <a:srgbClr val="2E8BAB"/>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68580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Two phases: extract, then query</a:t>
            </a:r>
            <a:endParaRPr lang="en-US" sz="3000" dirty="0"/>
          </a:p>
        </p:txBody>
      </p:sp>
      <p:sp>
        <p:nvSpPr>
          <p:cNvPr id="4" name="Shape 2"/>
          <p:cNvSpPr/>
          <p:nvPr/>
        </p:nvSpPr>
        <p:spPr>
          <a:xfrm>
            <a:off x="548640" y="1600200"/>
            <a:ext cx="3931920" cy="3108960"/>
          </a:xfrm>
          <a:prstGeom prst="roundRect">
            <a:avLst>
              <a:gd name="adj" fmla="val 2941"/>
            </a:avLst>
          </a:prstGeom>
          <a:solidFill>
            <a:srgbClr val="12304D"/>
          </a:solidFill>
          <a:ln/>
          <a:effectLst>
            <a:outerShdw sx="100000" sy="100000" kx="0" ky="0" algn="bl" rotWithShape="0" blurRad="88900" dist="38100" dir="5400000">
              <a:srgbClr val="0B1F33">
                <a:alpha val="13000"/>
              </a:srgbClr>
            </a:outerShdw>
          </a:effectLst>
        </p:spPr>
      </p:sp>
      <p:sp>
        <p:nvSpPr>
          <p:cNvPr id="5" name="Text 3"/>
          <p:cNvSpPr/>
          <p:nvPr/>
        </p:nvSpPr>
        <p:spPr>
          <a:xfrm>
            <a:off x="804672" y="1783080"/>
            <a:ext cx="914400" cy="640080"/>
          </a:xfrm>
          <a:prstGeom prst="rect">
            <a:avLst/>
          </a:prstGeom>
          <a:noFill/>
          <a:ln/>
        </p:spPr>
        <p:txBody>
          <a:bodyPr wrap="square" lIns="0" tIns="0" rIns="0" bIns="0" rtlCol="0" anchor="ctr"/>
          <a:lstStyle/>
          <a:p>
            <a:pPr indent="0" marL="0">
              <a:buNone/>
            </a:pPr>
            <a:r>
              <a:rPr lang="en-US" sz="4000" b="1" dirty="0">
                <a:solidFill>
                  <a:srgbClr val="F5A623"/>
                </a:solidFill>
                <a:latin typeface="Cambria" pitchFamily="34" charset="0"/>
                <a:ea typeface="Cambria" pitchFamily="34" charset="-122"/>
                <a:cs typeface="Cambria" pitchFamily="34" charset="-120"/>
              </a:rPr>
              <a:t>1</a:t>
            </a:r>
            <a:endParaRPr lang="en-US" sz="4000" dirty="0"/>
          </a:p>
        </p:txBody>
      </p:sp>
      <p:sp>
        <p:nvSpPr>
          <p:cNvPr id="6" name="Shape 4"/>
          <p:cNvSpPr/>
          <p:nvPr/>
        </p:nvSpPr>
        <p:spPr>
          <a:xfrm>
            <a:off x="3703320" y="1828800"/>
            <a:ext cx="566928" cy="566928"/>
          </a:xfrm>
          <a:prstGeom prst="ellipse">
            <a:avLst/>
          </a:prstGeom>
          <a:solidFill>
            <a:srgbClr val="1C7293"/>
          </a:solidFill>
          <a:ln/>
        </p:spPr>
      </p:sp>
      <p:pic>
        <p:nvPicPr>
          <p:cNvPr id="7" name="Image 0" descr="preencoded.png">    </p:cNvPr>
          <p:cNvPicPr>
            <a:picLocks noChangeAspect="1"/>
          </p:cNvPicPr>
          <p:nvPr/>
        </p:nvPicPr>
        <p:blipFill>
          <a:blip r:embed="rId1"/>
          <a:stretch>
            <a:fillRect/>
          </a:stretch>
        </p:blipFill>
        <p:spPr>
          <a:xfrm>
            <a:off x="3850721" y="1976201"/>
            <a:ext cx="272125" cy="272125"/>
          </a:xfrm>
          <a:prstGeom prst="rect">
            <a:avLst/>
          </a:prstGeom>
        </p:spPr>
      </p:pic>
      <p:sp>
        <p:nvSpPr>
          <p:cNvPr id="8" name="Text 5"/>
          <p:cNvSpPr/>
          <p:nvPr/>
        </p:nvSpPr>
        <p:spPr>
          <a:xfrm>
            <a:off x="822960" y="2395728"/>
            <a:ext cx="338328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Extraction (indexing)</a:t>
            </a:r>
            <a:endParaRPr lang="en-US" sz="1800" dirty="0"/>
          </a:p>
        </p:txBody>
      </p:sp>
      <p:sp>
        <p:nvSpPr>
          <p:cNvPr id="9" name="Text 6"/>
          <p:cNvSpPr/>
          <p:nvPr/>
        </p:nvSpPr>
        <p:spPr>
          <a:xfrm>
            <a:off x="841248" y="2852928"/>
            <a:ext cx="3429000" cy="1737360"/>
          </a:xfrm>
          <a:prstGeom prst="rect">
            <a:avLst/>
          </a:prstGeom>
          <a:noFill/>
          <a:ln/>
        </p:spPr>
        <p:txBody>
          <a:bodyPr wrap="square" lIns="0" tIns="0" rIns="0" bIns="0" rtlCol="0" anchor="ctr"/>
          <a:lstStyle/>
          <a:p>
            <a:pPr marL="177800" indent="-177800">
              <a:spcAft>
                <a:spcPts val="800"/>
              </a:spcAft>
              <a:buSzPct val="100000"/>
              <a:buChar char="•"/>
            </a:pPr>
            <a:r>
              <a:rPr lang="en-US" sz="1250" dirty="0">
                <a:solidFill>
                  <a:srgbClr val="C7D6E5"/>
                </a:solidFill>
                <a:latin typeface="Calibri" pitchFamily="34" charset="0"/>
                <a:ea typeface="Calibri" pitchFamily="34" charset="-122"/>
                <a:cs typeface="Calibri" pitchFamily="34" charset="-120"/>
              </a:rPr>
              <a:t>Scan the source — directly, or indirectly via trace files</a:t>
            </a:r>
            <a:endParaRPr lang="en-US" sz="1250" dirty="0"/>
          </a:p>
          <a:p>
            <a:pPr marL="177800" indent="-177800">
              <a:spcAft>
                <a:spcPts val="800"/>
              </a:spcAft>
              <a:buSzPct val="100000"/>
              <a:buChar char="•"/>
            </a:pPr>
            <a:r>
              <a:rPr lang="en-US" sz="1250" dirty="0">
                <a:solidFill>
                  <a:srgbClr val="C7D6E5"/>
                </a:solidFill>
                <a:latin typeface="Calibri" pitchFamily="34" charset="0"/>
                <a:ea typeface="Calibri" pitchFamily="34" charset="-122"/>
                <a:cs typeface="Calibri" pitchFamily="34" charset="-120"/>
              </a:rPr>
              <a:t>Each directory becomes an index directory with matching permissions</a:t>
            </a:r>
            <a:endParaRPr lang="en-US" sz="1250" dirty="0"/>
          </a:p>
          <a:p>
            <a:pPr marL="177800" indent="-177800">
              <a:spcAft>
                <a:spcPts val="800"/>
              </a:spcAft>
              <a:buSzPct val="100000"/>
              <a:buChar char="•"/>
            </a:pPr>
            <a:r>
              <a:rPr lang="en-US" sz="1250" dirty="0">
                <a:solidFill>
                  <a:srgbClr val="C7D6E5"/>
                </a:solidFill>
                <a:latin typeface="Calibri" pitchFamily="34" charset="0"/>
                <a:ea typeface="Calibri" pitchFamily="34" charset="-122"/>
                <a:cs typeface="Calibri" pitchFamily="34" charset="-120"/>
              </a:rPr>
              <a:t>File metadata, xattrs and external-DB content written to db.db</a:t>
            </a:r>
            <a:endParaRPr lang="en-US" sz="1250" dirty="0"/>
          </a:p>
        </p:txBody>
      </p:sp>
      <p:sp>
        <p:nvSpPr>
          <p:cNvPr id="10" name="Shape 7"/>
          <p:cNvSpPr/>
          <p:nvPr/>
        </p:nvSpPr>
        <p:spPr>
          <a:xfrm>
            <a:off x="4663440" y="1600200"/>
            <a:ext cx="3931920" cy="3108960"/>
          </a:xfrm>
          <a:prstGeom prst="roundRect">
            <a:avLst>
              <a:gd name="adj" fmla="val 2941"/>
            </a:avLst>
          </a:prstGeom>
          <a:solidFill>
            <a:srgbClr val="12304D"/>
          </a:solidFill>
          <a:ln/>
          <a:effectLst>
            <a:outerShdw sx="100000" sy="100000" kx="0" ky="0" algn="bl" rotWithShape="0" blurRad="88900" dist="38100" dir="5400000">
              <a:srgbClr val="0B1F33">
                <a:alpha val="13000"/>
              </a:srgbClr>
            </a:outerShdw>
          </a:effectLst>
        </p:spPr>
      </p:sp>
      <p:sp>
        <p:nvSpPr>
          <p:cNvPr id="11" name="Text 8"/>
          <p:cNvSpPr/>
          <p:nvPr/>
        </p:nvSpPr>
        <p:spPr>
          <a:xfrm>
            <a:off x="4919472" y="1783080"/>
            <a:ext cx="914400" cy="640080"/>
          </a:xfrm>
          <a:prstGeom prst="rect">
            <a:avLst/>
          </a:prstGeom>
          <a:noFill/>
          <a:ln/>
        </p:spPr>
        <p:txBody>
          <a:bodyPr wrap="square" lIns="0" tIns="0" rIns="0" bIns="0" rtlCol="0" anchor="ctr"/>
          <a:lstStyle/>
          <a:p>
            <a:pPr indent="0" marL="0">
              <a:buNone/>
            </a:pPr>
            <a:r>
              <a:rPr lang="en-US" sz="4000" b="1" dirty="0">
                <a:solidFill>
                  <a:srgbClr val="F5A623"/>
                </a:solidFill>
                <a:latin typeface="Cambria" pitchFamily="34" charset="0"/>
                <a:ea typeface="Cambria" pitchFamily="34" charset="-122"/>
                <a:cs typeface="Cambria" pitchFamily="34" charset="-120"/>
              </a:rPr>
              <a:t>2</a:t>
            </a:r>
            <a:endParaRPr lang="en-US" sz="4000" dirty="0"/>
          </a:p>
        </p:txBody>
      </p:sp>
      <p:sp>
        <p:nvSpPr>
          <p:cNvPr id="12" name="Shape 9"/>
          <p:cNvSpPr/>
          <p:nvPr/>
        </p:nvSpPr>
        <p:spPr>
          <a:xfrm>
            <a:off x="7818120" y="1828800"/>
            <a:ext cx="566928" cy="566928"/>
          </a:xfrm>
          <a:prstGeom prst="ellipse">
            <a:avLst/>
          </a:prstGeom>
          <a:solidFill>
            <a:srgbClr val="1C7293"/>
          </a:solidFill>
          <a:ln/>
        </p:spPr>
      </p:sp>
      <p:pic>
        <p:nvPicPr>
          <p:cNvPr id="13" name="Image 1" descr="preencoded.png">    </p:cNvPr>
          <p:cNvPicPr>
            <a:picLocks noChangeAspect="1"/>
          </p:cNvPicPr>
          <p:nvPr/>
        </p:nvPicPr>
        <p:blipFill>
          <a:blip r:embed="rId2"/>
          <a:stretch>
            <a:fillRect/>
          </a:stretch>
        </p:blipFill>
        <p:spPr>
          <a:xfrm>
            <a:off x="7965521" y="1976201"/>
            <a:ext cx="272125" cy="272125"/>
          </a:xfrm>
          <a:prstGeom prst="rect">
            <a:avLst/>
          </a:prstGeom>
        </p:spPr>
      </p:pic>
      <p:sp>
        <p:nvSpPr>
          <p:cNvPr id="14" name="Text 10"/>
          <p:cNvSpPr/>
          <p:nvPr/>
        </p:nvSpPr>
        <p:spPr>
          <a:xfrm>
            <a:off x="4937760" y="2395728"/>
            <a:ext cx="338328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Query</a:t>
            </a:r>
            <a:endParaRPr lang="en-US" sz="1800" dirty="0"/>
          </a:p>
        </p:txBody>
      </p:sp>
      <p:sp>
        <p:nvSpPr>
          <p:cNvPr id="15" name="Text 11"/>
          <p:cNvSpPr/>
          <p:nvPr/>
        </p:nvSpPr>
        <p:spPr>
          <a:xfrm>
            <a:off x="4956048" y="2852928"/>
            <a:ext cx="3429000" cy="1737360"/>
          </a:xfrm>
          <a:prstGeom prst="rect">
            <a:avLst/>
          </a:prstGeom>
          <a:noFill/>
          <a:ln/>
        </p:spPr>
        <p:txBody>
          <a:bodyPr wrap="square" lIns="0" tIns="0" rIns="0" bIns="0" rtlCol="0" anchor="ctr"/>
          <a:lstStyle/>
          <a:p>
            <a:pPr marL="177800" indent="-177800">
              <a:spcAft>
                <a:spcPts val="800"/>
              </a:spcAft>
              <a:buSzPct val="100000"/>
              <a:buChar char="•"/>
            </a:pPr>
            <a:r>
              <a:rPr lang="en-US" sz="1250" dirty="0">
                <a:solidFill>
                  <a:srgbClr val="C7D6E5"/>
                </a:solidFill>
                <a:latin typeface="Calibri" pitchFamily="34" charset="0"/>
                <a:ea typeface="Calibri" pitchFamily="34" charset="-122"/>
                <a:cs typeface="Calibri" pitchFamily="34" charset="-120"/>
              </a:rPr>
              <a:t>Index tree traversed in parallel; your SQL runs per directory</a:t>
            </a:r>
            <a:endParaRPr lang="en-US" sz="1250" dirty="0"/>
          </a:p>
          <a:p>
            <a:pPr marL="177800" indent="-177800">
              <a:spcAft>
                <a:spcPts val="800"/>
              </a:spcAft>
              <a:buSzPct val="100000"/>
              <a:buChar char="•"/>
            </a:pPr>
            <a:r>
              <a:rPr lang="en-US" sz="1250" dirty="0">
                <a:solidFill>
                  <a:srgbClr val="C7D6E5"/>
                </a:solidFill>
                <a:latin typeface="Calibri" pitchFamily="34" charset="0"/>
                <a:ea typeface="Calibri" pitchFamily="34" charset="-122"/>
                <a:cs typeface="Calibri" pitchFamily="34" charset="-120"/>
              </a:rPr>
              <a:t>Replicated permissions mean users see only what they may access</a:t>
            </a:r>
            <a:endParaRPr lang="en-US" sz="1250" dirty="0"/>
          </a:p>
          <a:p>
            <a:pPr marL="177800" indent="-177800">
              <a:spcAft>
                <a:spcPts val="800"/>
              </a:spcAft>
              <a:buSzPct val="100000"/>
              <a:buChar char="•"/>
            </a:pPr>
            <a:r>
              <a:rPr lang="en-US" sz="1250" dirty="0">
                <a:solidFill>
                  <a:srgbClr val="C7D6E5"/>
                </a:solidFill>
                <a:latin typeface="Calibri" pitchFamily="34" charset="0"/>
                <a:ea typeface="Calibri" pitchFamily="34" charset="-122"/>
                <a:cs typeface="Calibri" pitchFamily="34" charset="-120"/>
              </a:rPr>
              <a:t>No extra access-control layer is needed — ever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300" kern="0" dirty="0">
                <a:solidFill>
                  <a:srgbClr val="2E8BAB"/>
                </a:solidFill>
                <a:latin typeface="Calibri" pitchFamily="34" charset="0"/>
                <a:ea typeface="Calibri" pitchFamily="34" charset="-122"/>
                <a:cs typeface="Calibri" pitchFamily="34" charset="-120"/>
              </a:rPr>
              <a:t>ARCHITECTURE · SECURITY</a:t>
            </a:r>
            <a:endParaRPr lang="en-US" sz="1200" dirty="0"/>
          </a:p>
        </p:txBody>
      </p:sp>
      <p:sp>
        <p:nvSpPr>
          <p:cNvPr id="3" name="Text 1"/>
          <p:cNvSpPr/>
          <p:nvPr/>
        </p:nvSpPr>
        <p:spPr>
          <a:xfrm>
            <a:off x="548640" y="658368"/>
            <a:ext cx="8046720" cy="640080"/>
          </a:xfrm>
          <a:prstGeom prst="rect">
            <a:avLst/>
          </a:prstGeom>
          <a:noFill/>
          <a:ln/>
        </p:spPr>
        <p:txBody>
          <a:bodyPr wrap="square" lIns="0" tIns="0" rIns="0" bIns="0" rtlCol="0" anchor="ctr"/>
          <a:lstStyle/>
          <a:p>
            <a:pPr indent="0" marL="0">
              <a:buNone/>
            </a:pPr>
            <a:r>
              <a:rPr lang="en-US" sz="3000" b="1" dirty="0">
                <a:solidFill>
                  <a:srgbClr val="0B1F33"/>
                </a:solidFill>
                <a:latin typeface="Cambria" pitchFamily="34" charset="0"/>
                <a:ea typeface="Cambria" pitchFamily="34" charset="-122"/>
                <a:cs typeface="Cambria" pitchFamily="34" charset="-120"/>
              </a:rPr>
              <a:t>Security inherited from the filesystem itself</a:t>
            </a:r>
            <a:endParaRPr lang="en-US" sz="3000" dirty="0"/>
          </a:p>
        </p:txBody>
      </p:sp>
      <p:sp>
        <p:nvSpPr>
          <p:cNvPr id="4" name="Text 2"/>
          <p:cNvSpPr/>
          <p:nvPr/>
        </p:nvSpPr>
        <p:spPr>
          <a:xfrm>
            <a:off x="548640" y="1335024"/>
            <a:ext cx="8138160" cy="420624"/>
          </a:xfrm>
          <a:prstGeom prst="rect">
            <a:avLst/>
          </a:prstGeom>
          <a:noFill/>
          <a:ln/>
        </p:spPr>
        <p:txBody>
          <a:bodyPr wrap="square" lIns="0" tIns="0" rIns="0" bIns="0" rtlCol="0" anchor="ctr"/>
          <a:lstStyle/>
          <a:p>
            <a:pPr indent="0" marL="0">
              <a:lnSpc>
                <a:spcPct val="106000"/>
              </a:lnSpc>
              <a:buNone/>
            </a:pPr>
            <a:r>
              <a:rPr lang="en-US" sz="1350" dirty="0">
                <a:solidFill>
                  <a:srgbClr val="1B2A38"/>
                </a:solidFill>
                <a:latin typeface="Calibri" pitchFamily="34" charset="0"/>
                <a:ea typeface="Calibri" pitchFamily="34" charset="-122"/>
                <a:cs typeface="Calibri" pitchFamily="34" charset="-120"/>
              </a:rPr>
              <a:t>GUFI's security model is derived directly from POSIX and requires no additional enforcement logic. It is the system's most important feature.</a:t>
            </a:r>
            <a:endParaRPr lang="en-US" sz="1350" dirty="0"/>
          </a:p>
        </p:txBody>
      </p:sp>
      <p:sp>
        <p:nvSpPr>
          <p:cNvPr id="5" name="Shape 3"/>
          <p:cNvSpPr/>
          <p:nvPr/>
        </p:nvSpPr>
        <p:spPr>
          <a:xfrm>
            <a:off x="548640" y="1783080"/>
            <a:ext cx="3950208" cy="1097280"/>
          </a:xfrm>
          <a:prstGeom prst="roundRect">
            <a:avLst>
              <a:gd name="adj" fmla="val 5833"/>
            </a:avLst>
          </a:prstGeom>
          <a:solidFill>
            <a:srgbClr val="FFFFFF"/>
          </a:solidFill>
          <a:ln/>
          <a:effectLst>
            <a:outerShdw sx="100000" sy="100000" kx="0" ky="0" algn="bl" rotWithShape="0" blurRad="88900" dist="38100" dir="5400000">
              <a:srgbClr val="0B1F33">
                <a:alpha val="13000"/>
              </a:srgbClr>
            </a:outerShdw>
          </a:effectLst>
        </p:spPr>
      </p:sp>
      <p:sp>
        <p:nvSpPr>
          <p:cNvPr id="6" name="Shape 4"/>
          <p:cNvSpPr/>
          <p:nvPr/>
        </p:nvSpPr>
        <p:spPr>
          <a:xfrm>
            <a:off x="768096" y="1984248"/>
            <a:ext cx="493776" cy="493776"/>
          </a:xfrm>
          <a:prstGeom prst="ellipse">
            <a:avLst/>
          </a:prstGeom>
          <a:solidFill>
            <a:srgbClr val="2E8BAB"/>
          </a:solidFill>
          <a:ln/>
        </p:spPr>
      </p:sp>
      <p:pic>
        <p:nvPicPr>
          <p:cNvPr id="7" name="Image 0" descr="preencoded.png">    </p:cNvPr>
          <p:cNvPicPr>
            <a:picLocks noChangeAspect="1"/>
          </p:cNvPicPr>
          <p:nvPr/>
        </p:nvPicPr>
        <p:blipFill>
          <a:blip r:embed="rId1"/>
          <a:stretch>
            <a:fillRect/>
          </a:stretch>
        </p:blipFill>
        <p:spPr>
          <a:xfrm>
            <a:off x="896478" y="2112630"/>
            <a:ext cx="237012" cy="237012"/>
          </a:xfrm>
          <a:prstGeom prst="rect">
            <a:avLst/>
          </a:prstGeom>
        </p:spPr>
      </p:pic>
      <p:sp>
        <p:nvSpPr>
          <p:cNvPr id="8" name="Text 5"/>
          <p:cNvSpPr/>
          <p:nvPr/>
        </p:nvSpPr>
        <p:spPr>
          <a:xfrm>
            <a:off x="1408176" y="1938528"/>
            <a:ext cx="2962656" cy="310896"/>
          </a:xfrm>
          <a:prstGeom prst="rect">
            <a:avLst/>
          </a:prstGeom>
          <a:noFill/>
          <a:ln/>
        </p:spPr>
        <p:txBody>
          <a:bodyPr wrap="square" lIns="0" tIns="0" rIns="0" bIns="0" rtlCol="0" anchor="ctr"/>
          <a:lstStyle/>
          <a:p>
            <a:pPr indent="0" marL="0">
              <a:buNone/>
            </a:pPr>
            <a:r>
              <a:rPr lang="en-US" sz="1400" b="1" dirty="0">
                <a:solidFill>
                  <a:srgbClr val="0B1F33"/>
                </a:solidFill>
                <a:latin typeface="Cambria" pitchFamily="34" charset="0"/>
                <a:ea typeface="Cambria" pitchFamily="34" charset="-122"/>
                <a:cs typeface="Cambria" pitchFamily="34" charset="-120"/>
              </a:rPr>
              <a:t>Directory-level</a:t>
            </a:r>
            <a:endParaRPr lang="en-US" sz="1400" dirty="0"/>
          </a:p>
        </p:txBody>
      </p:sp>
      <p:sp>
        <p:nvSpPr>
          <p:cNvPr id="9" name="Text 6"/>
          <p:cNvSpPr/>
          <p:nvPr/>
        </p:nvSpPr>
        <p:spPr>
          <a:xfrm>
            <a:off x="1408176" y="2240280"/>
            <a:ext cx="2926080" cy="585216"/>
          </a:xfrm>
          <a:prstGeom prst="rect">
            <a:avLst/>
          </a:prstGeom>
          <a:noFill/>
          <a:ln/>
        </p:spPr>
        <p:txBody>
          <a:bodyPr wrap="square" lIns="0" tIns="0" rIns="0" bIns="0" rtlCol="0" anchor="ctr"/>
          <a:lstStyle/>
          <a:p>
            <a:pPr indent="0" marL="0">
              <a:lnSpc>
                <a:spcPct val="102000"/>
              </a:lnSpc>
              <a:buNone/>
            </a:pPr>
            <a:r>
              <a:rPr lang="en-US" sz="1050" dirty="0">
                <a:solidFill>
                  <a:srgbClr val="5A6B7B"/>
                </a:solidFill>
                <a:latin typeface="Calibri" pitchFamily="34" charset="0"/>
                <a:ea typeface="Calibri" pitchFamily="34" charset="-122"/>
                <a:cs typeface="Calibri" pitchFamily="34" charset="-120"/>
              </a:rPr>
              <a:t>A user needs read+execute on a directory to traverse it. The parallel walker simply cannot enter restricted directories — they're invisible.</a:t>
            </a:r>
            <a:endParaRPr lang="en-US" sz="1050" dirty="0"/>
          </a:p>
        </p:txBody>
      </p:sp>
      <p:sp>
        <p:nvSpPr>
          <p:cNvPr id="10" name="Shape 7"/>
          <p:cNvSpPr/>
          <p:nvPr/>
        </p:nvSpPr>
        <p:spPr>
          <a:xfrm>
            <a:off x="4645152" y="1783080"/>
            <a:ext cx="3950208" cy="1097280"/>
          </a:xfrm>
          <a:prstGeom prst="roundRect">
            <a:avLst>
              <a:gd name="adj" fmla="val 5833"/>
            </a:avLst>
          </a:prstGeom>
          <a:solidFill>
            <a:srgbClr val="FFFFFF"/>
          </a:solidFill>
          <a:ln/>
          <a:effectLst>
            <a:outerShdw sx="100000" sy="100000" kx="0" ky="0" algn="bl" rotWithShape="0" blurRad="88900" dist="38100" dir="5400000">
              <a:srgbClr val="0B1F33">
                <a:alpha val="13000"/>
              </a:srgbClr>
            </a:outerShdw>
          </a:effectLst>
        </p:spPr>
      </p:sp>
      <p:sp>
        <p:nvSpPr>
          <p:cNvPr id="11" name="Shape 8"/>
          <p:cNvSpPr/>
          <p:nvPr/>
        </p:nvSpPr>
        <p:spPr>
          <a:xfrm>
            <a:off x="4864608" y="1984248"/>
            <a:ext cx="493776" cy="493776"/>
          </a:xfrm>
          <a:prstGeom prst="ellipse">
            <a:avLst/>
          </a:prstGeom>
          <a:solidFill>
            <a:srgbClr val="2E8BAB"/>
          </a:solidFill>
          <a:ln/>
        </p:spPr>
      </p:sp>
      <p:pic>
        <p:nvPicPr>
          <p:cNvPr id="12" name="Image 1" descr="preencoded.png">    </p:cNvPr>
          <p:cNvPicPr>
            <a:picLocks noChangeAspect="1"/>
          </p:cNvPicPr>
          <p:nvPr/>
        </p:nvPicPr>
        <p:blipFill>
          <a:blip r:embed="rId2"/>
          <a:stretch>
            <a:fillRect/>
          </a:stretch>
        </p:blipFill>
        <p:spPr>
          <a:xfrm>
            <a:off x="4992990" y="2112630"/>
            <a:ext cx="237012" cy="237012"/>
          </a:xfrm>
          <a:prstGeom prst="rect">
            <a:avLst/>
          </a:prstGeom>
        </p:spPr>
      </p:pic>
      <p:sp>
        <p:nvSpPr>
          <p:cNvPr id="13" name="Text 9"/>
          <p:cNvSpPr/>
          <p:nvPr/>
        </p:nvSpPr>
        <p:spPr>
          <a:xfrm>
            <a:off x="5504688" y="1938528"/>
            <a:ext cx="2962656" cy="310896"/>
          </a:xfrm>
          <a:prstGeom prst="rect">
            <a:avLst/>
          </a:prstGeom>
          <a:noFill/>
          <a:ln/>
        </p:spPr>
        <p:txBody>
          <a:bodyPr wrap="square" lIns="0" tIns="0" rIns="0" bIns="0" rtlCol="0" anchor="ctr"/>
          <a:lstStyle/>
          <a:p>
            <a:pPr indent="0" marL="0">
              <a:buNone/>
            </a:pPr>
            <a:r>
              <a:rPr lang="en-US" sz="1400" b="1" dirty="0">
                <a:solidFill>
                  <a:srgbClr val="0B1F33"/>
                </a:solidFill>
                <a:latin typeface="Cambria" pitchFamily="34" charset="0"/>
                <a:ea typeface="Cambria" pitchFamily="34" charset="-122"/>
                <a:cs typeface="Cambria" pitchFamily="34" charset="-120"/>
              </a:rPr>
              <a:t>File-level (xattrs &amp; content)</a:t>
            </a:r>
            <a:endParaRPr lang="en-US" sz="1400" dirty="0"/>
          </a:p>
        </p:txBody>
      </p:sp>
      <p:sp>
        <p:nvSpPr>
          <p:cNvPr id="14" name="Text 10"/>
          <p:cNvSpPr/>
          <p:nvPr/>
        </p:nvSpPr>
        <p:spPr>
          <a:xfrm>
            <a:off x="5504688" y="2240280"/>
            <a:ext cx="2926080" cy="585216"/>
          </a:xfrm>
          <a:prstGeom prst="rect">
            <a:avLst/>
          </a:prstGeom>
          <a:noFill/>
          <a:ln/>
        </p:spPr>
        <p:txBody>
          <a:bodyPr wrap="square" lIns="0" tIns="0" rIns="0" bIns="0" rtlCol="0" anchor="ctr"/>
          <a:lstStyle/>
          <a:p>
            <a:pPr indent="0" marL="0">
              <a:lnSpc>
                <a:spcPct val="102000"/>
              </a:lnSpc>
              <a:buNone/>
            </a:pPr>
            <a:r>
              <a:rPr lang="en-US" sz="1050" dirty="0">
                <a:solidFill>
                  <a:srgbClr val="5A6B7B"/>
                </a:solidFill>
                <a:latin typeface="Calibri" pitchFamily="34" charset="0"/>
                <a:ea typeface="Calibri" pitchFamily="34" charset="-122"/>
                <a:cs typeface="Calibri" pitchFamily="34" charset="-120"/>
              </a:rPr>
              <a:t>Sensitive values live in separate per-permission databases, joined at query time via SQLite ATTACH. You can only attach files you may read.</a:t>
            </a:r>
            <a:endParaRPr lang="en-US" sz="1050" dirty="0"/>
          </a:p>
        </p:txBody>
      </p:sp>
      <p:sp>
        <p:nvSpPr>
          <p:cNvPr id="15" name="Shape 11"/>
          <p:cNvSpPr/>
          <p:nvPr/>
        </p:nvSpPr>
        <p:spPr>
          <a:xfrm>
            <a:off x="548640" y="3008376"/>
            <a:ext cx="3950208" cy="1097280"/>
          </a:xfrm>
          <a:prstGeom prst="roundRect">
            <a:avLst>
              <a:gd name="adj" fmla="val 5833"/>
            </a:avLst>
          </a:prstGeom>
          <a:solidFill>
            <a:srgbClr val="FFFFFF"/>
          </a:solidFill>
          <a:ln/>
          <a:effectLst>
            <a:outerShdw sx="100000" sy="100000" kx="0" ky="0" algn="bl" rotWithShape="0" blurRad="88900" dist="38100" dir="5400000">
              <a:srgbClr val="0B1F33">
                <a:alpha val="13000"/>
              </a:srgbClr>
            </a:outerShdw>
          </a:effectLst>
        </p:spPr>
      </p:sp>
      <p:sp>
        <p:nvSpPr>
          <p:cNvPr id="16" name="Shape 12"/>
          <p:cNvSpPr/>
          <p:nvPr/>
        </p:nvSpPr>
        <p:spPr>
          <a:xfrm>
            <a:off x="768096" y="3209544"/>
            <a:ext cx="493776" cy="493776"/>
          </a:xfrm>
          <a:prstGeom prst="ellipse">
            <a:avLst/>
          </a:prstGeom>
          <a:solidFill>
            <a:srgbClr val="2E8BAB"/>
          </a:solidFill>
          <a:ln/>
        </p:spPr>
      </p:sp>
      <p:pic>
        <p:nvPicPr>
          <p:cNvPr id="17" name="Image 2" descr="preencoded.png">    </p:cNvPr>
          <p:cNvPicPr>
            <a:picLocks noChangeAspect="1"/>
          </p:cNvPicPr>
          <p:nvPr/>
        </p:nvPicPr>
        <p:blipFill>
          <a:blip r:embed="rId3"/>
          <a:stretch>
            <a:fillRect/>
          </a:stretch>
        </p:blipFill>
        <p:spPr>
          <a:xfrm>
            <a:off x="896478" y="3337926"/>
            <a:ext cx="237012" cy="237012"/>
          </a:xfrm>
          <a:prstGeom prst="rect">
            <a:avLst/>
          </a:prstGeom>
        </p:spPr>
      </p:pic>
      <p:sp>
        <p:nvSpPr>
          <p:cNvPr id="18" name="Text 13"/>
          <p:cNvSpPr/>
          <p:nvPr/>
        </p:nvSpPr>
        <p:spPr>
          <a:xfrm>
            <a:off x="1408176" y="3163824"/>
            <a:ext cx="2962656" cy="310896"/>
          </a:xfrm>
          <a:prstGeom prst="rect">
            <a:avLst/>
          </a:prstGeom>
          <a:noFill/>
          <a:ln/>
        </p:spPr>
        <p:txBody>
          <a:bodyPr wrap="square" lIns="0" tIns="0" rIns="0" bIns="0" rtlCol="0" anchor="ctr"/>
          <a:lstStyle/>
          <a:p>
            <a:pPr indent="0" marL="0">
              <a:buNone/>
            </a:pPr>
            <a:r>
              <a:rPr lang="en-US" sz="1400" b="1" dirty="0">
                <a:solidFill>
                  <a:srgbClr val="0B1F33"/>
                </a:solidFill>
                <a:latin typeface="Cambria" pitchFamily="34" charset="0"/>
                <a:ea typeface="Cambria" pitchFamily="34" charset="-122"/>
                <a:cs typeface="Cambria" pitchFamily="34" charset="-120"/>
              </a:rPr>
              <a:t>ACL &amp; MLS</a:t>
            </a:r>
            <a:endParaRPr lang="en-US" sz="1400" dirty="0"/>
          </a:p>
        </p:txBody>
      </p:sp>
      <p:sp>
        <p:nvSpPr>
          <p:cNvPr id="19" name="Text 14"/>
          <p:cNvSpPr/>
          <p:nvPr/>
        </p:nvSpPr>
        <p:spPr>
          <a:xfrm>
            <a:off x="1408176" y="3465576"/>
            <a:ext cx="2926080" cy="585216"/>
          </a:xfrm>
          <a:prstGeom prst="rect">
            <a:avLst/>
          </a:prstGeom>
          <a:noFill/>
          <a:ln/>
        </p:spPr>
        <p:txBody>
          <a:bodyPr wrap="square" lIns="0" tIns="0" rIns="0" bIns="0" rtlCol="0" anchor="ctr"/>
          <a:lstStyle/>
          <a:p>
            <a:pPr indent="0" marL="0">
              <a:lnSpc>
                <a:spcPct val="102000"/>
              </a:lnSpc>
              <a:buNone/>
            </a:pPr>
            <a:r>
              <a:rPr lang="en-US" sz="1050" dirty="0">
                <a:solidFill>
                  <a:srgbClr val="5A6B7B"/>
                </a:solidFill>
                <a:latin typeface="Calibri" pitchFamily="34" charset="0"/>
                <a:ea typeface="Calibri" pitchFamily="34" charset="-122"/>
                <a:cs typeface="Calibri" pitchFamily="34" charset="-120"/>
              </a:rPr>
              <a:t>On filesystems that support them, ACLs and Multi-Level Security labels apply to the index automatically.</a:t>
            </a:r>
            <a:endParaRPr lang="en-US" sz="1050" dirty="0"/>
          </a:p>
        </p:txBody>
      </p:sp>
      <p:sp>
        <p:nvSpPr>
          <p:cNvPr id="20" name="Shape 15"/>
          <p:cNvSpPr/>
          <p:nvPr/>
        </p:nvSpPr>
        <p:spPr>
          <a:xfrm>
            <a:off x="4645152" y="3008376"/>
            <a:ext cx="3950208" cy="1097280"/>
          </a:xfrm>
          <a:prstGeom prst="roundRect">
            <a:avLst>
              <a:gd name="adj" fmla="val 5833"/>
            </a:avLst>
          </a:prstGeom>
          <a:solidFill>
            <a:srgbClr val="FFFFFF"/>
          </a:solidFill>
          <a:ln/>
          <a:effectLst>
            <a:outerShdw sx="100000" sy="100000" kx="0" ky="0" algn="bl" rotWithShape="0" blurRad="88900" dist="38100" dir="5400000">
              <a:srgbClr val="0B1F33">
                <a:alpha val="13000"/>
              </a:srgbClr>
            </a:outerShdw>
          </a:effectLst>
        </p:spPr>
      </p:sp>
      <p:sp>
        <p:nvSpPr>
          <p:cNvPr id="21" name="Shape 16"/>
          <p:cNvSpPr/>
          <p:nvPr/>
        </p:nvSpPr>
        <p:spPr>
          <a:xfrm>
            <a:off x="4864608" y="3209544"/>
            <a:ext cx="493776" cy="493776"/>
          </a:xfrm>
          <a:prstGeom prst="ellipse">
            <a:avLst/>
          </a:prstGeom>
          <a:solidFill>
            <a:srgbClr val="2E8BAB"/>
          </a:solidFill>
          <a:ln/>
        </p:spPr>
      </p:sp>
      <p:pic>
        <p:nvPicPr>
          <p:cNvPr id="22" name="Image 3" descr="preencoded.png">    </p:cNvPr>
          <p:cNvPicPr>
            <a:picLocks noChangeAspect="1"/>
          </p:cNvPicPr>
          <p:nvPr/>
        </p:nvPicPr>
        <p:blipFill>
          <a:blip r:embed="rId4"/>
          <a:stretch>
            <a:fillRect/>
          </a:stretch>
        </p:blipFill>
        <p:spPr>
          <a:xfrm>
            <a:off x="4992990" y="3337926"/>
            <a:ext cx="237012" cy="237012"/>
          </a:xfrm>
          <a:prstGeom prst="rect">
            <a:avLst/>
          </a:prstGeom>
        </p:spPr>
      </p:pic>
      <p:sp>
        <p:nvSpPr>
          <p:cNvPr id="23" name="Text 17"/>
          <p:cNvSpPr/>
          <p:nvPr/>
        </p:nvSpPr>
        <p:spPr>
          <a:xfrm>
            <a:off x="5504688" y="3163824"/>
            <a:ext cx="2962656" cy="310896"/>
          </a:xfrm>
          <a:prstGeom prst="rect">
            <a:avLst/>
          </a:prstGeom>
          <a:noFill/>
          <a:ln/>
        </p:spPr>
        <p:txBody>
          <a:bodyPr wrap="square" lIns="0" tIns="0" rIns="0" bIns="0" rtlCol="0" anchor="ctr"/>
          <a:lstStyle/>
          <a:p>
            <a:pPr indent="0" marL="0">
              <a:buNone/>
            </a:pPr>
            <a:r>
              <a:rPr lang="en-US" sz="1400" b="1" dirty="0">
                <a:solidFill>
                  <a:srgbClr val="0B1F33"/>
                </a:solidFill>
                <a:latin typeface="Cambria" pitchFamily="34" charset="0"/>
                <a:ea typeface="Cambria" pitchFamily="34" charset="-122"/>
                <a:cs typeface="Cambria" pitchFamily="34" charset="-120"/>
              </a:rPr>
              <a:t>No root required</a:t>
            </a:r>
            <a:endParaRPr lang="en-US" sz="1400" dirty="0"/>
          </a:p>
        </p:txBody>
      </p:sp>
      <p:sp>
        <p:nvSpPr>
          <p:cNvPr id="24" name="Text 18"/>
          <p:cNvSpPr/>
          <p:nvPr/>
        </p:nvSpPr>
        <p:spPr>
          <a:xfrm>
            <a:off x="5504688" y="3465576"/>
            <a:ext cx="2926080" cy="585216"/>
          </a:xfrm>
          <a:prstGeom prst="rect">
            <a:avLst/>
          </a:prstGeom>
          <a:noFill/>
          <a:ln/>
        </p:spPr>
        <p:txBody>
          <a:bodyPr wrap="square" lIns="0" tIns="0" rIns="0" bIns="0" rtlCol="0" anchor="ctr"/>
          <a:lstStyle/>
          <a:p>
            <a:pPr indent="0" marL="0">
              <a:lnSpc>
                <a:spcPct val="102000"/>
              </a:lnSpc>
              <a:buNone/>
            </a:pPr>
            <a:r>
              <a:rPr lang="en-US" sz="1050" dirty="0">
                <a:solidFill>
                  <a:srgbClr val="5A6B7B"/>
                </a:solidFill>
                <a:latin typeface="Calibri" pitchFamily="34" charset="0"/>
                <a:ea typeface="Calibri" pitchFamily="34" charset="-122"/>
                <a:cs typeface="Calibri" pitchFamily="34" charset="-120"/>
              </a:rPr>
              <a:t>Any user can build and query an index over the portion of the filesystem they can already see.</a:t>
            </a:r>
            <a:endParaRPr lang="en-US" sz="1050" dirty="0"/>
          </a:p>
        </p:txBody>
      </p:sp>
      <p:sp>
        <p:nvSpPr>
          <p:cNvPr id="25" name="Shape 19"/>
          <p:cNvSpPr/>
          <p:nvPr/>
        </p:nvSpPr>
        <p:spPr>
          <a:xfrm>
            <a:off x="548640" y="4224528"/>
            <a:ext cx="8046720" cy="658368"/>
          </a:xfrm>
          <a:prstGeom prst="roundRect">
            <a:avLst>
              <a:gd name="adj" fmla="val 9722"/>
            </a:avLst>
          </a:prstGeom>
          <a:solidFill>
            <a:srgbClr val="0B1F33"/>
          </a:solidFill>
          <a:ln/>
          <a:effectLst>
            <a:outerShdw sx="100000" sy="100000" kx="0" ky="0" algn="bl" rotWithShape="0" blurRad="88900" dist="38100" dir="5400000">
              <a:srgbClr val="0B1F33">
                <a:alpha val="13000"/>
              </a:srgbClr>
            </a:outerShdw>
          </a:effectLst>
        </p:spPr>
      </p:sp>
      <p:sp>
        <p:nvSpPr>
          <p:cNvPr id="26" name="Shape 20"/>
          <p:cNvSpPr/>
          <p:nvPr/>
        </p:nvSpPr>
        <p:spPr>
          <a:xfrm>
            <a:off x="786384" y="4361688"/>
            <a:ext cx="384048" cy="384048"/>
          </a:xfrm>
          <a:prstGeom prst="ellipse">
            <a:avLst/>
          </a:prstGeom>
          <a:solidFill>
            <a:srgbClr val="F5A623"/>
          </a:solidFill>
          <a:ln/>
        </p:spPr>
      </p:sp>
      <p:pic>
        <p:nvPicPr>
          <p:cNvPr id="27" name="Image 4" descr="preencoded.png">    </p:cNvPr>
          <p:cNvPicPr>
            <a:picLocks noChangeAspect="1"/>
          </p:cNvPicPr>
          <p:nvPr/>
        </p:nvPicPr>
        <p:blipFill>
          <a:blip r:embed="rId5"/>
          <a:stretch>
            <a:fillRect/>
          </a:stretch>
        </p:blipFill>
        <p:spPr>
          <a:xfrm>
            <a:off x="886236" y="4461540"/>
            <a:ext cx="184343" cy="184343"/>
          </a:xfrm>
          <a:prstGeom prst="rect">
            <a:avLst/>
          </a:prstGeom>
        </p:spPr>
      </p:pic>
      <p:sp>
        <p:nvSpPr>
          <p:cNvPr id="28" name="Text 21"/>
          <p:cNvSpPr/>
          <p:nvPr/>
        </p:nvSpPr>
        <p:spPr>
          <a:xfrm>
            <a:off x="1353312" y="4224528"/>
            <a:ext cx="7086600" cy="658368"/>
          </a:xfrm>
          <a:prstGeom prst="rect">
            <a:avLst/>
          </a:prstGeom>
          <a:noFill/>
          <a:ln/>
        </p:spPr>
        <p:txBody>
          <a:bodyPr wrap="square" lIns="0" tIns="0" rIns="0" bIns="0" rtlCol="0" anchor="ctr"/>
          <a:lstStyle/>
          <a:p>
            <a:pPr indent="0" marL="0">
              <a:lnSpc>
                <a:spcPct val="104000"/>
              </a:lnSpc>
              <a:buNone/>
            </a:pPr>
            <a:r>
              <a:rPr lang="en-US" sz="1100" b="1" dirty="0">
                <a:solidFill>
                  <a:srgbClr val="F5A623"/>
                </a:solidFill>
                <a:latin typeface="Calibri" pitchFamily="34" charset="0"/>
                <a:ea typeface="Calibri" pitchFamily="34" charset="-122"/>
                <a:cs typeface="Calibri" pitchFamily="34" charset="-120"/>
              </a:rPr>
              <a:t>Beyond POSIX:  </a:t>
            </a:r>
            <a:pPr indent="0" marL="0">
              <a:lnSpc>
                <a:spcPct val="104000"/>
              </a:lnSpc>
              <a:buNone/>
            </a:pPr>
            <a:r>
              <a:rPr lang="en-US" sz="1100" dirty="0">
                <a:solidFill>
                  <a:srgbClr val="D5E1EC"/>
                </a:solidFill>
                <a:latin typeface="Calibri" pitchFamily="34" charset="0"/>
                <a:ea typeface="Calibri" pitchFamily="34" charset="-122"/>
                <a:cs typeface="Calibri" pitchFamily="34" charset="-120"/>
              </a:rPr>
              <a:t>the same model fits any namespace with traversal and access controls — POSIX-like trees use the full directory hierarchy, while object stores map to a flatter traversal.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300" kern="0" dirty="0">
                <a:solidFill>
                  <a:srgbClr val="2E8BAB"/>
                </a:solidFill>
                <a:latin typeface="Calibri" pitchFamily="34" charset="0"/>
                <a:ea typeface="Calibri" pitchFamily="34" charset="-122"/>
                <a:cs typeface="Calibri" pitchFamily="34" charset="-120"/>
              </a:rPr>
              <a:t>ARCHITECTURE · FOUNDATIONS</a:t>
            </a:r>
            <a:endParaRPr lang="en-US" sz="1200" dirty="0"/>
          </a:p>
        </p:txBody>
      </p:sp>
      <p:sp>
        <p:nvSpPr>
          <p:cNvPr id="3" name="Text 1"/>
          <p:cNvSpPr/>
          <p:nvPr/>
        </p:nvSpPr>
        <p:spPr>
          <a:xfrm>
            <a:off x="548640" y="658368"/>
            <a:ext cx="8046720" cy="640080"/>
          </a:xfrm>
          <a:prstGeom prst="rect">
            <a:avLst/>
          </a:prstGeom>
          <a:noFill/>
          <a:ln/>
        </p:spPr>
        <p:txBody>
          <a:bodyPr wrap="square" lIns="0" tIns="0" rIns="0" bIns="0" rtlCol="0" anchor="ctr"/>
          <a:lstStyle/>
          <a:p>
            <a:pPr indent="0" marL="0">
              <a:buNone/>
            </a:pPr>
            <a:r>
              <a:rPr lang="en-US" sz="3000" b="1" dirty="0">
                <a:solidFill>
                  <a:srgbClr val="0B1F33"/>
                </a:solidFill>
                <a:latin typeface="Cambria" pitchFamily="34" charset="0"/>
                <a:ea typeface="Cambria" pitchFamily="34" charset="-122"/>
                <a:cs typeface="Cambria" pitchFamily="34" charset="-120"/>
              </a:rPr>
              <a:t>Plain SQLite files, freely composable</a:t>
            </a:r>
            <a:endParaRPr lang="en-US" sz="3000" dirty="0"/>
          </a:p>
        </p:txBody>
      </p:sp>
      <p:sp>
        <p:nvSpPr>
          <p:cNvPr id="4" name="Shape 2"/>
          <p:cNvSpPr/>
          <p:nvPr/>
        </p:nvSpPr>
        <p:spPr>
          <a:xfrm>
            <a:off x="548640" y="1417320"/>
            <a:ext cx="3977640" cy="3063240"/>
          </a:xfrm>
          <a:prstGeom prst="roundRect">
            <a:avLst>
              <a:gd name="adj" fmla="val 2388"/>
            </a:avLst>
          </a:prstGeom>
          <a:solidFill>
            <a:srgbClr val="FFFFFF"/>
          </a:solidFill>
          <a:ln/>
          <a:effectLst>
            <a:outerShdw sx="100000" sy="100000" kx="0" ky="0" algn="bl" rotWithShape="0" blurRad="88900" dist="38100" dir="5400000">
              <a:srgbClr val="0B1F33">
                <a:alpha val="13000"/>
              </a:srgbClr>
            </a:outerShdw>
          </a:effectLst>
        </p:spPr>
      </p:sp>
      <p:sp>
        <p:nvSpPr>
          <p:cNvPr id="5" name="Shape 3"/>
          <p:cNvSpPr/>
          <p:nvPr/>
        </p:nvSpPr>
        <p:spPr>
          <a:xfrm>
            <a:off x="777240" y="1645920"/>
            <a:ext cx="548640" cy="548640"/>
          </a:xfrm>
          <a:prstGeom prst="ellipse">
            <a:avLst/>
          </a:prstGeom>
          <a:solidFill>
            <a:srgbClr val="0B1F33"/>
          </a:solidFill>
          <a:ln/>
        </p:spPr>
      </p:sp>
      <p:pic>
        <p:nvPicPr>
          <p:cNvPr id="6" name="Image 0" descr="preencoded.png">    </p:cNvPr>
          <p:cNvPicPr>
            <a:picLocks noChangeAspect="1"/>
          </p:cNvPicPr>
          <p:nvPr/>
        </p:nvPicPr>
        <p:blipFill>
          <a:blip r:embed="rId1"/>
          <a:stretch>
            <a:fillRect/>
          </a:stretch>
        </p:blipFill>
        <p:spPr>
          <a:xfrm>
            <a:off x="919886" y="1788566"/>
            <a:ext cx="263347" cy="263347"/>
          </a:xfrm>
          <a:prstGeom prst="rect">
            <a:avLst/>
          </a:prstGeom>
        </p:spPr>
      </p:pic>
      <p:sp>
        <p:nvSpPr>
          <p:cNvPr id="7" name="Text 4"/>
          <p:cNvSpPr/>
          <p:nvPr/>
        </p:nvSpPr>
        <p:spPr>
          <a:xfrm>
            <a:off x="1463040" y="1664208"/>
            <a:ext cx="2743200" cy="457200"/>
          </a:xfrm>
          <a:prstGeom prst="rect">
            <a:avLst/>
          </a:prstGeom>
          <a:noFill/>
          <a:ln/>
        </p:spPr>
        <p:txBody>
          <a:bodyPr wrap="square" lIns="0" tIns="0" rIns="0" bIns="0" rtlCol="0" anchor="ctr"/>
          <a:lstStyle/>
          <a:p>
            <a:pPr indent="0" marL="0">
              <a:buNone/>
            </a:pPr>
            <a:r>
              <a:rPr lang="en-US" sz="1800" b="1" dirty="0">
                <a:solidFill>
                  <a:srgbClr val="0B1F33"/>
                </a:solidFill>
                <a:latin typeface="Cambria" pitchFamily="34" charset="0"/>
                <a:ea typeface="Cambria" pitchFamily="34" charset="-122"/>
                <a:cs typeface="Cambria" pitchFamily="34" charset="-120"/>
              </a:rPr>
              <a:t>Why SQLite?</a:t>
            </a:r>
            <a:endParaRPr lang="en-US" sz="1800" dirty="0"/>
          </a:p>
        </p:txBody>
      </p:sp>
      <p:sp>
        <p:nvSpPr>
          <p:cNvPr id="8" name="Text 5"/>
          <p:cNvSpPr/>
          <p:nvPr/>
        </p:nvSpPr>
        <p:spPr>
          <a:xfrm>
            <a:off x="868680" y="2286000"/>
            <a:ext cx="3520440" cy="2103120"/>
          </a:xfrm>
          <a:prstGeom prst="rect">
            <a:avLst/>
          </a:prstGeom>
          <a:noFill/>
          <a:ln/>
        </p:spPr>
        <p:txBody>
          <a:bodyPr wrap="square" lIns="0" tIns="0" rIns="0" bIns="0" rtlCol="0" anchor="ctr"/>
          <a:lstStyle/>
          <a:p>
            <a:pPr marL="177800" indent="-177800">
              <a:spcAft>
                <a:spcPts val="900"/>
              </a:spcAft>
              <a:buSzPct val="100000"/>
              <a:buChar char="•"/>
            </a:pPr>
            <a:r>
              <a:rPr lang="en-US" sz="1250" dirty="0">
                <a:solidFill>
                  <a:srgbClr val="1B2A38"/>
                </a:solidFill>
                <a:latin typeface="Calibri" pitchFamily="34" charset="0"/>
                <a:ea typeface="Calibri" pitchFamily="34" charset="-122"/>
                <a:cs typeface="Calibri" pitchFamily="34" charset="-120"/>
              </a:rPr>
              <a:t>Embedded — no server to run</a:t>
            </a:r>
            <a:endParaRPr lang="en-US" sz="1250" dirty="0"/>
          </a:p>
          <a:p>
            <a:pPr marL="177800" indent="-177800">
              <a:spcAft>
                <a:spcPts val="900"/>
              </a:spcAft>
              <a:buSzPct val="100000"/>
              <a:buChar char="•"/>
            </a:pPr>
            <a:r>
              <a:rPr lang="en-US" sz="1250" dirty="0">
                <a:solidFill>
                  <a:srgbClr val="1B2A38"/>
                </a:solidFill>
                <a:latin typeface="Calibri" pitchFamily="34" charset="0"/>
                <a:ea typeface="Calibri" pitchFamily="34" charset="-122"/>
                <a:cs typeface="Calibri" pitchFamily="34" charset="-120"/>
              </a:rPr>
              <a:t>Open source and battle-tested at massive scale</a:t>
            </a:r>
            <a:endParaRPr lang="en-US" sz="1250" dirty="0"/>
          </a:p>
          <a:p>
            <a:pPr marL="177800" indent="-177800">
              <a:spcAft>
                <a:spcPts val="900"/>
              </a:spcAft>
              <a:buSzPct val="100000"/>
              <a:buChar char="•"/>
            </a:pPr>
            <a:r>
              <a:rPr lang="en-US" sz="1250" dirty="0">
                <a:solidFill>
                  <a:srgbClr val="1B2A38"/>
                </a:solidFill>
                <a:latin typeface="Calibri" pitchFamily="34" charset="0"/>
                <a:ea typeface="Calibri" pitchFamily="34" charset="-122"/>
                <a:cs typeface="Calibri" pitchFamily="34" charset="-120"/>
              </a:rPr>
              <a:t>Full SQL, extensible with custom functions</a:t>
            </a:r>
            <a:endParaRPr lang="en-US" sz="1250" dirty="0"/>
          </a:p>
          <a:p>
            <a:pPr marL="177800" indent="-177800">
              <a:spcAft>
                <a:spcPts val="900"/>
              </a:spcAft>
              <a:buSzPct val="100000"/>
              <a:buChar char="•"/>
            </a:pPr>
            <a:r>
              <a:rPr lang="en-US" sz="1250" dirty="0">
                <a:solidFill>
                  <a:srgbClr val="1B2A38"/>
                </a:solidFill>
                <a:latin typeface="Calibri" pitchFamily="34" charset="0"/>
                <a:ea typeface="Calibri" pitchFamily="34" charset="-122"/>
                <a:cs typeface="Calibri" pitchFamily="34" charset="-120"/>
              </a:rPr>
              <a:t>Stored as plain files → obeys POSIX permissions</a:t>
            </a:r>
            <a:endParaRPr lang="en-US" sz="1250" dirty="0"/>
          </a:p>
          <a:p>
            <a:pPr marL="177800" indent="-177800">
              <a:spcAft>
                <a:spcPts val="900"/>
              </a:spcAft>
              <a:buSzPct val="100000"/>
              <a:buChar char="•"/>
            </a:pPr>
            <a:r>
              <a:rPr lang="en-US" sz="1250" dirty="0">
                <a:solidFill>
                  <a:srgbClr val="1B2A38"/>
                </a:solidFill>
                <a:latin typeface="Calibri" pitchFamily="34" charset="0"/>
                <a:ea typeface="Calibri" pitchFamily="34" charset="-122"/>
                <a:cs typeface="Calibri" pitchFamily="34" charset="-120"/>
              </a:rPr>
              <a:t>Kilobytes to megabytes per directory; millions of read IOPS on flash</a:t>
            </a:r>
            <a:endParaRPr lang="en-US" sz="1250" dirty="0"/>
          </a:p>
        </p:txBody>
      </p:sp>
      <p:sp>
        <p:nvSpPr>
          <p:cNvPr id="9" name="Shape 6"/>
          <p:cNvSpPr/>
          <p:nvPr/>
        </p:nvSpPr>
        <p:spPr>
          <a:xfrm>
            <a:off x="4709160" y="1417320"/>
            <a:ext cx="3886200" cy="3063240"/>
          </a:xfrm>
          <a:prstGeom prst="roundRect">
            <a:avLst>
              <a:gd name="adj" fmla="val 2388"/>
            </a:avLst>
          </a:prstGeom>
          <a:solidFill>
            <a:srgbClr val="0B1F33"/>
          </a:solidFill>
          <a:ln/>
          <a:effectLst>
            <a:outerShdw sx="100000" sy="100000" kx="0" ky="0" algn="bl" rotWithShape="0" blurRad="88900" dist="38100" dir="5400000">
              <a:srgbClr val="0B1F33">
                <a:alpha val="13000"/>
              </a:srgbClr>
            </a:outerShdw>
          </a:effectLst>
        </p:spPr>
      </p:sp>
      <p:sp>
        <p:nvSpPr>
          <p:cNvPr id="10" name="Shape 7"/>
          <p:cNvSpPr/>
          <p:nvPr/>
        </p:nvSpPr>
        <p:spPr>
          <a:xfrm>
            <a:off x="4937760" y="1645920"/>
            <a:ext cx="548640" cy="548640"/>
          </a:xfrm>
          <a:prstGeom prst="ellipse">
            <a:avLst/>
          </a:prstGeom>
          <a:solidFill>
            <a:srgbClr val="1C7293"/>
          </a:solidFill>
          <a:ln/>
        </p:spPr>
      </p:sp>
      <p:pic>
        <p:nvPicPr>
          <p:cNvPr id="11" name="Image 1" descr="preencoded.png">    </p:cNvPr>
          <p:cNvPicPr>
            <a:picLocks noChangeAspect="1"/>
          </p:cNvPicPr>
          <p:nvPr/>
        </p:nvPicPr>
        <p:blipFill>
          <a:blip r:embed="rId2"/>
          <a:stretch>
            <a:fillRect/>
          </a:stretch>
        </p:blipFill>
        <p:spPr>
          <a:xfrm>
            <a:off x="5080406" y="1788566"/>
            <a:ext cx="263347" cy="263347"/>
          </a:xfrm>
          <a:prstGeom prst="rect">
            <a:avLst/>
          </a:prstGeom>
        </p:spPr>
      </p:pic>
      <p:sp>
        <p:nvSpPr>
          <p:cNvPr id="12" name="Text 8"/>
          <p:cNvSpPr/>
          <p:nvPr/>
        </p:nvSpPr>
        <p:spPr>
          <a:xfrm>
            <a:off x="5623560" y="1664208"/>
            <a:ext cx="283464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Composable &amp; decomposable</a:t>
            </a:r>
            <a:endParaRPr lang="en-US" sz="1600" dirty="0"/>
          </a:p>
        </p:txBody>
      </p:sp>
      <p:sp>
        <p:nvSpPr>
          <p:cNvPr id="13" name="Text 9"/>
          <p:cNvSpPr/>
          <p:nvPr/>
        </p:nvSpPr>
        <p:spPr>
          <a:xfrm>
            <a:off x="4983480" y="2286000"/>
            <a:ext cx="3429000" cy="777240"/>
          </a:xfrm>
          <a:prstGeom prst="rect">
            <a:avLst/>
          </a:prstGeom>
          <a:noFill/>
          <a:ln/>
        </p:spPr>
        <p:txBody>
          <a:bodyPr wrap="square" lIns="0" tIns="0" rIns="0" bIns="0" rtlCol="0" anchor="ctr"/>
          <a:lstStyle/>
          <a:p>
            <a:pPr indent="0" marL="0">
              <a:lnSpc>
                <a:spcPct val="105000"/>
              </a:lnSpc>
              <a:buNone/>
            </a:pPr>
            <a:r>
              <a:rPr lang="en-US" sz="1200" dirty="0">
                <a:solidFill>
                  <a:srgbClr val="C7D6E5"/>
                </a:solidFill>
                <a:latin typeface="Calibri" pitchFamily="34" charset="0"/>
                <a:ea typeface="Calibri" pitchFamily="34" charset="-122"/>
                <a:cs typeface="Calibri" pitchFamily="34" charset="-120"/>
              </a:rPr>
              <a:t>No cross-directory relationships are stored inside db.db — child names come from the filesystem, not a table. So index subtrees can be:</a:t>
            </a:r>
            <a:endParaRPr lang="en-US" sz="1200" dirty="0"/>
          </a:p>
        </p:txBody>
      </p:sp>
      <p:sp>
        <p:nvSpPr>
          <p:cNvPr id="14" name="Text 10"/>
          <p:cNvSpPr/>
          <p:nvPr/>
        </p:nvSpPr>
        <p:spPr>
          <a:xfrm>
            <a:off x="4983480" y="3063240"/>
            <a:ext cx="3474720" cy="1371600"/>
          </a:xfrm>
          <a:prstGeom prst="rect">
            <a:avLst/>
          </a:prstGeom>
          <a:noFill/>
          <a:ln/>
        </p:spPr>
        <p:txBody>
          <a:bodyPr wrap="square" lIns="0" tIns="0" rIns="0" bIns="0" rtlCol="0" anchor="ctr"/>
          <a:lstStyle/>
          <a:p>
            <a:pPr marL="177800" indent="-177800">
              <a:spcAft>
                <a:spcPts val="800"/>
              </a:spcAft>
              <a:buSzPct val="100000"/>
              <a:buChar char="•"/>
            </a:pPr>
            <a:r>
              <a:rPr lang="en-US" sz="1200" dirty="0">
                <a:solidFill>
                  <a:srgbClr val="E2ECF5"/>
                </a:solidFill>
                <a:latin typeface="Calibri" pitchFamily="34" charset="0"/>
                <a:ea typeface="Calibri" pitchFamily="34" charset="-122"/>
                <a:cs typeface="Calibri" pitchFamily="34" charset="-120"/>
              </a:rPr>
              <a:t>Created, copied, archived or removed independently</a:t>
            </a:r>
            <a:endParaRPr lang="en-US" sz="1200" dirty="0"/>
          </a:p>
          <a:p>
            <a:pPr marL="177800" indent="-177800">
              <a:spcAft>
                <a:spcPts val="800"/>
              </a:spcAft>
              <a:buSzPct val="100000"/>
              <a:buChar char="•"/>
            </a:pPr>
            <a:r>
              <a:rPr lang="en-US" sz="1200" dirty="0">
                <a:solidFill>
                  <a:srgbClr val="E2ECF5"/>
                </a:solidFill>
                <a:latin typeface="Calibri" pitchFamily="34" charset="0"/>
                <a:ea typeface="Calibri" pitchFamily="34" charset="-122"/>
                <a:cs typeface="Calibri" pitchFamily="34" charset="-120"/>
              </a:rPr>
              <a:t>Tarred, replicated or distributed across sites</a:t>
            </a:r>
            <a:endParaRPr lang="en-US" sz="1200" dirty="0"/>
          </a:p>
          <a:p>
            <a:pPr marL="177800" indent="-177800">
              <a:spcAft>
                <a:spcPts val="800"/>
              </a:spcAft>
              <a:buSzPct val="100000"/>
              <a:buChar char="•"/>
            </a:pPr>
            <a:r>
              <a:rPr lang="en-US" sz="1200" dirty="0">
                <a:solidFill>
                  <a:srgbClr val="E2ECF5"/>
                </a:solidFill>
                <a:latin typeface="Calibri" pitchFamily="34" charset="0"/>
                <a:ea typeface="Calibri" pitchFamily="34" charset="-122"/>
                <a:cs typeface="Calibri" pitchFamily="34" charset="-120"/>
              </a:rPr>
              <a:t>Grafted together — e.g. a workstation index and an NFS index under one search root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300" kern="0" dirty="0">
                <a:solidFill>
                  <a:srgbClr val="2E8BAB"/>
                </a:solidFill>
                <a:latin typeface="Calibri" pitchFamily="34" charset="0"/>
                <a:ea typeface="Calibri" pitchFamily="34" charset="-122"/>
                <a:cs typeface="Calibri" pitchFamily="34" charset="-120"/>
              </a:rPr>
              <a:t>INDEXING</a:t>
            </a:r>
            <a:endParaRPr lang="en-US" sz="1200" dirty="0"/>
          </a:p>
        </p:txBody>
      </p:sp>
      <p:sp>
        <p:nvSpPr>
          <p:cNvPr id="3" name="Text 1"/>
          <p:cNvSpPr/>
          <p:nvPr/>
        </p:nvSpPr>
        <p:spPr>
          <a:xfrm>
            <a:off x="548640" y="658368"/>
            <a:ext cx="8046720" cy="640080"/>
          </a:xfrm>
          <a:prstGeom prst="rect">
            <a:avLst/>
          </a:prstGeom>
          <a:noFill/>
          <a:ln/>
        </p:spPr>
        <p:txBody>
          <a:bodyPr wrap="square" lIns="0" tIns="0" rIns="0" bIns="0" rtlCol="0" anchor="ctr"/>
          <a:lstStyle/>
          <a:p>
            <a:pPr indent="0" marL="0">
              <a:buNone/>
            </a:pPr>
            <a:r>
              <a:rPr lang="en-US" sz="3000" b="1" dirty="0">
                <a:solidFill>
                  <a:srgbClr val="0B1F33"/>
                </a:solidFill>
                <a:latin typeface="Cambria" pitchFamily="34" charset="0"/>
                <a:ea typeface="Cambria" pitchFamily="34" charset="-122"/>
                <a:cs typeface="Cambria" pitchFamily="34" charset="-120"/>
              </a:rPr>
              <a:t>Two ways to build an index</a:t>
            </a:r>
            <a:endParaRPr lang="en-US" sz="3000" dirty="0"/>
          </a:p>
        </p:txBody>
      </p:sp>
      <p:sp>
        <p:nvSpPr>
          <p:cNvPr id="4" name="Shape 2"/>
          <p:cNvSpPr/>
          <p:nvPr/>
        </p:nvSpPr>
        <p:spPr>
          <a:xfrm>
            <a:off x="548640" y="1371600"/>
            <a:ext cx="3950208" cy="1554480"/>
          </a:xfrm>
          <a:prstGeom prst="roundRect">
            <a:avLst>
              <a:gd name="adj" fmla="val 4118"/>
            </a:avLst>
          </a:prstGeom>
          <a:solidFill>
            <a:srgbClr val="FFFFFF"/>
          </a:solidFill>
          <a:ln/>
          <a:effectLst>
            <a:outerShdw sx="100000" sy="100000" kx="0" ky="0" algn="bl" rotWithShape="0" blurRad="88900" dist="38100" dir="5400000">
              <a:srgbClr val="0B1F33">
                <a:alpha val="13000"/>
              </a:srgbClr>
            </a:outerShdw>
          </a:effectLst>
        </p:spPr>
      </p:sp>
      <p:sp>
        <p:nvSpPr>
          <p:cNvPr id="5" name="Shape 3"/>
          <p:cNvSpPr/>
          <p:nvPr/>
        </p:nvSpPr>
        <p:spPr>
          <a:xfrm>
            <a:off x="777240" y="1591056"/>
            <a:ext cx="512064" cy="512064"/>
          </a:xfrm>
          <a:prstGeom prst="ellipse">
            <a:avLst/>
          </a:prstGeom>
          <a:solidFill>
            <a:srgbClr val="2E8BAB"/>
          </a:solidFill>
          <a:ln/>
        </p:spPr>
      </p:sp>
      <p:pic>
        <p:nvPicPr>
          <p:cNvPr id="6" name="Image 0" descr="preencoded.png">    </p:cNvPr>
          <p:cNvPicPr>
            <a:picLocks noChangeAspect="1"/>
          </p:cNvPicPr>
          <p:nvPr/>
        </p:nvPicPr>
        <p:blipFill>
          <a:blip r:embed="rId1"/>
          <a:stretch>
            <a:fillRect/>
          </a:stretch>
        </p:blipFill>
        <p:spPr>
          <a:xfrm>
            <a:off x="910377" y="1724193"/>
            <a:ext cx="245791" cy="245791"/>
          </a:xfrm>
          <a:prstGeom prst="rect">
            <a:avLst/>
          </a:prstGeom>
        </p:spPr>
      </p:pic>
      <p:sp>
        <p:nvSpPr>
          <p:cNvPr id="7" name="Text 4"/>
          <p:cNvSpPr/>
          <p:nvPr/>
        </p:nvSpPr>
        <p:spPr>
          <a:xfrm>
            <a:off x="1417320" y="1572768"/>
            <a:ext cx="2926080" cy="320040"/>
          </a:xfrm>
          <a:prstGeom prst="rect">
            <a:avLst/>
          </a:prstGeom>
          <a:noFill/>
          <a:ln/>
        </p:spPr>
        <p:txBody>
          <a:bodyPr wrap="square" lIns="0" tIns="0" rIns="0" bIns="0" rtlCol="0" anchor="ctr"/>
          <a:lstStyle/>
          <a:p>
            <a:pPr indent="0" marL="0">
              <a:buNone/>
            </a:pPr>
            <a:r>
              <a:rPr lang="en-US" sz="1500" b="1" dirty="0">
                <a:solidFill>
                  <a:srgbClr val="0B1F33"/>
                </a:solidFill>
                <a:latin typeface="Cambria" pitchFamily="34" charset="0"/>
                <a:ea typeface="Cambria" pitchFamily="34" charset="-122"/>
                <a:cs typeface="Cambria" pitchFamily="34" charset="-120"/>
              </a:rPr>
              <a:t>Direct indexing</a:t>
            </a:r>
            <a:endParaRPr lang="en-US" sz="1500" dirty="0"/>
          </a:p>
        </p:txBody>
      </p:sp>
      <p:sp>
        <p:nvSpPr>
          <p:cNvPr id="8" name="Text 5"/>
          <p:cNvSpPr/>
          <p:nvPr/>
        </p:nvSpPr>
        <p:spPr>
          <a:xfrm>
            <a:off x="1417320" y="1865376"/>
            <a:ext cx="2926080" cy="274320"/>
          </a:xfrm>
          <a:prstGeom prst="rect">
            <a:avLst/>
          </a:prstGeom>
          <a:noFill/>
          <a:ln/>
        </p:spPr>
        <p:txBody>
          <a:bodyPr wrap="square" lIns="0" tIns="0" rIns="0" bIns="0" rtlCol="0" anchor="ctr"/>
          <a:lstStyle/>
          <a:p>
            <a:pPr indent="0" marL="0">
              <a:buNone/>
            </a:pPr>
            <a:r>
              <a:rPr lang="en-US" sz="1150" b="1" dirty="0">
                <a:solidFill>
                  <a:srgbClr val="1C7293"/>
                </a:solidFill>
                <a:latin typeface="Courier New" pitchFamily="34" charset="0"/>
                <a:ea typeface="Courier New" pitchFamily="34" charset="-122"/>
                <a:cs typeface="Courier New" pitchFamily="34" charset="-120"/>
              </a:rPr>
              <a:t>gufi_dir2index</a:t>
            </a:r>
            <a:endParaRPr lang="en-US" sz="1150" dirty="0"/>
          </a:p>
        </p:txBody>
      </p:sp>
      <p:sp>
        <p:nvSpPr>
          <p:cNvPr id="9" name="Text 6"/>
          <p:cNvSpPr/>
          <p:nvPr/>
        </p:nvSpPr>
        <p:spPr>
          <a:xfrm>
            <a:off x="777240" y="2212848"/>
            <a:ext cx="3520440" cy="640080"/>
          </a:xfrm>
          <a:prstGeom prst="rect">
            <a:avLst/>
          </a:prstGeom>
          <a:noFill/>
          <a:ln/>
        </p:spPr>
        <p:txBody>
          <a:bodyPr wrap="square" lIns="0" tIns="0" rIns="0" bIns="0" rtlCol="0" anchor="ctr"/>
          <a:lstStyle/>
          <a:p>
            <a:pPr indent="0" marL="0">
              <a:lnSpc>
                <a:spcPct val="104000"/>
              </a:lnSpc>
              <a:buNone/>
            </a:pPr>
            <a:r>
              <a:rPr lang="en-US" sz="1150" dirty="0">
                <a:solidFill>
                  <a:srgbClr val="5A6B7B"/>
                </a:solidFill>
                <a:latin typeface="Calibri" pitchFamily="34" charset="0"/>
                <a:ea typeface="Calibri" pitchFamily="34" charset="-122"/>
                <a:cs typeface="Calibri" pitchFamily="34" charset="-120"/>
              </a:rPr>
              <a:t>Breadth-first parallel walk of a live filesystem, building the index tree on the fly.</a:t>
            </a:r>
            <a:endParaRPr lang="en-US" sz="1150" dirty="0"/>
          </a:p>
        </p:txBody>
      </p:sp>
      <p:sp>
        <p:nvSpPr>
          <p:cNvPr id="10" name="Shape 7"/>
          <p:cNvSpPr/>
          <p:nvPr/>
        </p:nvSpPr>
        <p:spPr>
          <a:xfrm>
            <a:off x="4645152" y="1371600"/>
            <a:ext cx="3950208" cy="1554480"/>
          </a:xfrm>
          <a:prstGeom prst="roundRect">
            <a:avLst>
              <a:gd name="adj" fmla="val 4118"/>
            </a:avLst>
          </a:prstGeom>
          <a:solidFill>
            <a:srgbClr val="FFFFFF"/>
          </a:solidFill>
          <a:ln/>
          <a:effectLst>
            <a:outerShdw sx="100000" sy="100000" kx="0" ky="0" algn="bl" rotWithShape="0" blurRad="88900" dist="38100" dir="5400000">
              <a:srgbClr val="0B1F33">
                <a:alpha val="13000"/>
              </a:srgbClr>
            </a:outerShdw>
          </a:effectLst>
        </p:spPr>
      </p:sp>
      <p:sp>
        <p:nvSpPr>
          <p:cNvPr id="11" name="Shape 8"/>
          <p:cNvSpPr/>
          <p:nvPr/>
        </p:nvSpPr>
        <p:spPr>
          <a:xfrm>
            <a:off x="4873752" y="1591056"/>
            <a:ext cx="512064" cy="512064"/>
          </a:xfrm>
          <a:prstGeom prst="ellipse">
            <a:avLst/>
          </a:prstGeom>
          <a:solidFill>
            <a:srgbClr val="2E8BAB"/>
          </a:solidFill>
          <a:ln/>
        </p:spPr>
      </p:sp>
      <p:pic>
        <p:nvPicPr>
          <p:cNvPr id="12" name="Image 1" descr="preencoded.png">    </p:cNvPr>
          <p:cNvPicPr>
            <a:picLocks noChangeAspect="1"/>
          </p:cNvPicPr>
          <p:nvPr/>
        </p:nvPicPr>
        <p:blipFill>
          <a:blip r:embed="rId2"/>
          <a:stretch>
            <a:fillRect/>
          </a:stretch>
        </p:blipFill>
        <p:spPr>
          <a:xfrm>
            <a:off x="5006889" y="1724193"/>
            <a:ext cx="245791" cy="245791"/>
          </a:xfrm>
          <a:prstGeom prst="rect">
            <a:avLst/>
          </a:prstGeom>
        </p:spPr>
      </p:pic>
      <p:sp>
        <p:nvSpPr>
          <p:cNvPr id="13" name="Text 9"/>
          <p:cNvSpPr/>
          <p:nvPr/>
        </p:nvSpPr>
        <p:spPr>
          <a:xfrm>
            <a:off x="5513832" y="1572768"/>
            <a:ext cx="2926080" cy="320040"/>
          </a:xfrm>
          <a:prstGeom prst="rect">
            <a:avLst/>
          </a:prstGeom>
          <a:noFill/>
          <a:ln/>
        </p:spPr>
        <p:txBody>
          <a:bodyPr wrap="square" lIns="0" tIns="0" rIns="0" bIns="0" rtlCol="0" anchor="ctr"/>
          <a:lstStyle/>
          <a:p>
            <a:pPr indent="0" marL="0">
              <a:buNone/>
            </a:pPr>
            <a:r>
              <a:rPr lang="en-US" sz="1500" b="1" dirty="0">
                <a:solidFill>
                  <a:srgbClr val="0B1F33"/>
                </a:solidFill>
                <a:latin typeface="Cambria" pitchFamily="34" charset="0"/>
                <a:ea typeface="Cambria" pitchFamily="34" charset="-122"/>
                <a:cs typeface="Cambria" pitchFamily="34" charset="-120"/>
              </a:rPr>
              <a:t>Indirect via trace files</a:t>
            </a:r>
            <a:endParaRPr lang="en-US" sz="1500" dirty="0"/>
          </a:p>
        </p:txBody>
      </p:sp>
      <p:sp>
        <p:nvSpPr>
          <p:cNvPr id="14" name="Text 10"/>
          <p:cNvSpPr/>
          <p:nvPr/>
        </p:nvSpPr>
        <p:spPr>
          <a:xfrm>
            <a:off x="5513832" y="1865376"/>
            <a:ext cx="3017520" cy="274320"/>
          </a:xfrm>
          <a:prstGeom prst="rect">
            <a:avLst/>
          </a:prstGeom>
          <a:noFill/>
          <a:ln/>
        </p:spPr>
        <p:txBody>
          <a:bodyPr wrap="square" lIns="0" tIns="0" rIns="0" bIns="0" rtlCol="0" anchor="ctr"/>
          <a:lstStyle/>
          <a:p>
            <a:pPr indent="0" marL="0">
              <a:buNone/>
            </a:pPr>
            <a:r>
              <a:rPr lang="en-US" sz="1050" b="1" dirty="0">
                <a:solidFill>
                  <a:srgbClr val="1C7293"/>
                </a:solidFill>
                <a:latin typeface="Courier New" pitchFamily="34" charset="0"/>
                <a:ea typeface="Courier New" pitchFamily="34" charset="-122"/>
                <a:cs typeface="Courier New" pitchFamily="34" charset="-120"/>
              </a:rPr>
              <a:t>gufi_dir2trace  →  gufi_trace2index</a:t>
            </a:r>
            <a:endParaRPr lang="en-US" sz="1050" dirty="0"/>
          </a:p>
        </p:txBody>
      </p:sp>
      <p:sp>
        <p:nvSpPr>
          <p:cNvPr id="15" name="Text 11"/>
          <p:cNvSpPr/>
          <p:nvPr/>
        </p:nvSpPr>
        <p:spPr>
          <a:xfrm>
            <a:off x="4873752" y="2212848"/>
            <a:ext cx="3520440" cy="640080"/>
          </a:xfrm>
          <a:prstGeom prst="rect">
            <a:avLst/>
          </a:prstGeom>
          <a:noFill/>
          <a:ln/>
        </p:spPr>
        <p:txBody>
          <a:bodyPr wrap="square" lIns="0" tIns="0" rIns="0" bIns="0" rtlCol="0" anchor="ctr"/>
          <a:lstStyle/>
          <a:p>
            <a:pPr indent="0" marL="0">
              <a:lnSpc>
                <a:spcPct val="104000"/>
              </a:lnSpc>
              <a:buNone/>
            </a:pPr>
            <a:r>
              <a:rPr lang="en-US" sz="1150" dirty="0">
                <a:solidFill>
                  <a:srgbClr val="5A6B7B"/>
                </a:solidFill>
                <a:latin typeface="Calibri" pitchFamily="34" charset="0"/>
                <a:ea typeface="Calibri" pitchFamily="34" charset="-122"/>
                <a:cs typeface="Calibri" pitchFamily="34" charset="-120"/>
              </a:rPr>
              <a:t>Extract flat trace files on one system; build the index on another that can't mount the source.</a:t>
            </a:r>
            <a:endParaRPr lang="en-US" sz="1150" dirty="0"/>
          </a:p>
        </p:txBody>
      </p:sp>
      <p:sp>
        <p:nvSpPr>
          <p:cNvPr id="16" name="Shape 12"/>
          <p:cNvSpPr/>
          <p:nvPr/>
        </p:nvSpPr>
        <p:spPr>
          <a:xfrm>
            <a:off x="548640" y="3127248"/>
            <a:ext cx="2542032" cy="1417320"/>
          </a:xfrm>
          <a:prstGeom prst="roundRect">
            <a:avLst>
              <a:gd name="adj" fmla="val 4516"/>
            </a:avLst>
          </a:prstGeom>
          <a:solidFill>
            <a:srgbClr val="0B1F33"/>
          </a:solidFill>
          <a:ln/>
          <a:effectLst>
            <a:outerShdw sx="100000" sy="100000" kx="0" ky="0" algn="bl" rotWithShape="0" blurRad="88900" dist="38100" dir="5400000">
              <a:srgbClr val="0B1F33">
                <a:alpha val="13000"/>
              </a:srgbClr>
            </a:outerShdw>
          </a:effectLst>
        </p:spPr>
      </p:sp>
      <p:sp>
        <p:nvSpPr>
          <p:cNvPr id="17" name="Shape 13"/>
          <p:cNvSpPr/>
          <p:nvPr/>
        </p:nvSpPr>
        <p:spPr>
          <a:xfrm>
            <a:off x="749808" y="3310128"/>
            <a:ext cx="475488" cy="475488"/>
          </a:xfrm>
          <a:prstGeom prst="ellipse">
            <a:avLst/>
          </a:prstGeom>
          <a:solidFill>
            <a:srgbClr val="F5A623"/>
          </a:solidFill>
          <a:ln/>
        </p:spPr>
      </p:sp>
      <p:pic>
        <p:nvPicPr>
          <p:cNvPr id="18" name="Image 2" descr="preencoded.png">    </p:cNvPr>
          <p:cNvPicPr>
            <a:picLocks noChangeAspect="1"/>
          </p:cNvPicPr>
          <p:nvPr/>
        </p:nvPicPr>
        <p:blipFill>
          <a:blip r:embed="rId3"/>
          <a:stretch>
            <a:fillRect/>
          </a:stretch>
        </p:blipFill>
        <p:spPr>
          <a:xfrm>
            <a:off x="873435" y="3433755"/>
            <a:ext cx="228234" cy="228234"/>
          </a:xfrm>
          <a:prstGeom prst="rect">
            <a:avLst/>
          </a:prstGeom>
        </p:spPr>
      </p:pic>
      <p:sp>
        <p:nvSpPr>
          <p:cNvPr id="19" name="Text 14"/>
          <p:cNvSpPr/>
          <p:nvPr/>
        </p:nvSpPr>
        <p:spPr>
          <a:xfrm>
            <a:off x="1325880" y="3310128"/>
            <a:ext cx="1691640" cy="45720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Runtime plugins</a:t>
            </a:r>
            <a:endParaRPr lang="en-US" sz="1350" dirty="0"/>
          </a:p>
        </p:txBody>
      </p:sp>
      <p:sp>
        <p:nvSpPr>
          <p:cNvPr id="20" name="Text 15"/>
          <p:cNvSpPr/>
          <p:nvPr/>
        </p:nvSpPr>
        <p:spPr>
          <a:xfrm>
            <a:off x="749808" y="3822192"/>
            <a:ext cx="2194560" cy="658368"/>
          </a:xfrm>
          <a:prstGeom prst="rect">
            <a:avLst/>
          </a:prstGeom>
          <a:noFill/>
          <a:ln/>
        </p:spPr>
        <p:txBody>
          <a:bodyPr wrap="square" lIns="0" tIns="0" rIns="0" bIns="0" rtlCol="0" anchor="ctr"/>
          <a:lstStyle/>
          <a:p>
            <a:pPr indent="0" marL="0">
              <a:lnSpc>
                <a:spcPct val="103000"/>
              </a:lnSpc>
              <a:buNone/>
            </a:pPr>
            <a:r>
              <a:rPr lang="en-US" sz="1050" dirty="0">
                <a:solidFill>
                  <a:srgbClr val="C7D6E5"/>
                </a:solidFill>
                <a:latin typeface="Calibri" pitchFamily="34" charset="0"/>
                <a:ea typeface="Calibri" pitchFamily="34" charset="-122"/>
                <a:cs typeface="Calibri" pitchFamily="34" charset="-120"/>
              </a:rPr>
              <a:t>Load a .so to inject filesystem-specific metadata (e.g. Lustre FID, GPFS attributes).</a:t>
            </a:r>
            <a:endParaRPr lang="en-US" sz="1050" dirty="0"/>
          </a:p>
        </p:txBody>
      </p:sp>
      <p:sp>
        <p:nvSpPr>
          <p:cNvPr id="21" name="Shape 16"/>
          <p:cNvSpPr/>
          <p:nvPr/>
        </p:nvSpPr>
        <p:spPr>
          <a:xfrm>
            <a:off x="3264408" y="3127248"/>
            <a:ext cx="2542032" cy="1417320"/>
          </a:xfrm>
          <a:prstGeom prst="roundRect">
            <a:avLst>
              <a:gd name="adj" fmla="val 4516"/>
            </a:avLst>
          </a:prstGeom>
          <a:solidFill>
            <a:srgbClr val="0B1F33"/>
          </a:solidFill>
          <a:ln/>
          <a:effectLst>
            <a:outerShdw sx="100000" sy="100000" kx="0" ky="0" algn="bl" rotWithShape="0" blurRad="88900" dist="38100" dir="5400000">
              <a:srgbClr val="0B1F33">
                <a:alpha val="13000"/>
              </a:srgbClr>
            </a:outerShdw>
          </a:effectLst>
        </p:spPr>
      </p:sp>
      <p:sp>
        <p:nvSpPr>
          <p:cNvPr id="22" name="Shape 17"/>
          <p:cNvSpPr/>
          <p:nvPr/>
        </p:nvSpPr>
        <p:spPr>
          <a:xfrm>
            <a:off x="3465576" y="3310128"/>
            <a:ext cx="475488" cy="475488"/>
          </a:xfrm>
          <a:prstGeom prst="ellipse">
            <a:avLst/>
          </a:prstGeom>
          <a:solidFill>
            <a:srgbClr val="F5A623"/>
          </a:solidFill>
          <a:ln/>
        </p:spPr>
      </p:sp>
      <p:pic>
        <p:nvPicPr>
          <p:cNvPr id="23" name="Image 3" descr="preencoded.png">    </p:cNvPr>
          <p:cNvPicPr>
            <a:picLocks noChangeAspect="1"/>
          </p:cNvPicPr>
          <p:nvPr/>
        </p:nvPicPr>
        <p:blipFill>
          <a:blip r:embed="rId4"/>
          <a:stretch>
            <a:fillRect/>
          </a:stretch>
        </p:blipFill>
        <p:spPr>
          <a:xfrm>
            <a:off x="3589203" y="3433755"/>
            <a:ext cx="228234" cy="228234"/>
          </a:xfrm>
          <a:prstGeom prst="rect">
            <a:avLst/>
          </a:prstGeom>
        </p:spPr>
      </p:pic>
      <p:sp>
        <p:nvSpPr>
          <p:cNvPr id="24" name="Text 18"/>
          <p:cNvSpPr/>
          <p:nvPr/>
        </p:nvSpPr>
        <p:spPr>
          <a:xfrm>
            <a:off x="4041648" y="3310128"/>
            <a:ext cx="1691640" cy="45720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Extended attributes</a:t>
            </a:r>
            <a:endParaRPr lang="en-US" sz="1350" dirty="0"/>
          </a:p>
        </p:txBody>
      </p:sp>
      <p:sp>
        <p:nvSpPr>
          <p:cNvPr id="25" name="Text 19"/>
          <p:cNvSpPr/>
          <p:nvPr/>
        </p:nvSpPr>
        <p:spPr>
          <a:xfrm>
            <a:off x="3465576" y="3822192"/>
            <a:ext cx="2194560" cy="658368"/>
          </a:xfrm>
          <a:prstGeom prst="rect">
            <a:avLst/>
          </a:prstGeom>
          <a:noFill/>
          <a:ln/>
        </p:spPr>
        <p:txBody>
          <a:bodyPr wrap="square" lIns="0" tIns="0" rIns="0" bIns="0" rtlCol="0" anchor="ctr"/>
          <a:lstStyle/>
          <a:p>
            <a:pPr indent="0" marL="0">
              <a:lnSpc>
                <a:spcPct val="103000"/>
              </a:lnSpc>
              <a:buNone/>
            </a:pPr>
            <a:r>
              <a:rPr lang="en-US" sz="1050" dirty="0">
                <a:solidFill>
                  <a:srgbClr val="C7D6E5"/>
                </a:solidFill>
                <a:latin typeface="Calibri" pitchFamily="34" charset="0"/>
                <a:ea typeface="Calibri" pitchFamily="34" charset="-122"/>
                <a:cs typeface="Calibri" pitchFamily="34" charset="-120"/>
              </a:rPr>
              <a:t>user.* xattrs extracted; permission-sensitive values isolated per uid/gid.</a:t>
            </a:r>
            <a:endParaRPr lang="en-US" sz="1050" dirty="0"/>
          </a:p>
        </p:txBody>
      </p:sp>
      <p:sp>
        <p:nvSpPr>
          <p:cNvPr id="26" name="Shape 20"/>
          <p:cNvSpPr/>
          <p:nvPr/>
        </p:nvSpPr>
        <p:spPr>
          <a:xfrm>
            <a:off x="5980176" y="3127248"/>
            <a:ext cx="2542032" cy="1417320"/>
          </a:xfrm>
          <a:prstGeom prst="roundRect">
            <a:avLst>
              <a:gd name="adj" fmla="val 4516"/>
            </a:avLst>
          </a:prstGeom>
          <a:solidFill>
            <a:srgbClr val="0B1F33"/>
          </a:solidFill>
          <a:ln/>
          <a:effectLst>
            <a:outerShdw sx="100000" sy="100000" kx="0" ky="0" algn="bl" rotWithShape="0" blurRad="88900" dist="38100" dir="5400000">
              <a:srgbClr val="0B1F33">
                <a:alpha val="13000"/>
              </a:srgbClr>
            </a:outerShdw>
          </a:effectLst>
        </p:spPr>
      </p:sp>
      <p:sp>
        <p:nvSpPr>
          <p:cNvPr id="27" name="Shape 21"/>
          <p:cNvSpPr/>
          <p:nvPr/>
        </p:nvSpPr>
        <p:spPr>
          <a:xfrm>
            <a:off x="6181344" y="3310128"/>
            <a:ext cx="475488" cy="475488"/>
          </a:xfrm>
          <a:prstGeom prst="ellipse">
            <a:avLst/>
          </a:prstGeom>
          <a:solidFill>
            <a:srgbClr val="F5A623"/>
          </a:solidFill>
          <a:ln/>
        </p:spPr>
      </p:sp>
      <p:pic>
        <p:nvPicPr>
          <p:cNvPr id="28" name="Image 4" descr="preencoded.png">    </p:cNvPr>
          <p:cNvPicPr>
            <a:picLocks noChangeAspect="1"/>
          </p:cNvPicPr>
          <p:nvPr/>
        </p:nvPicPr>
        <p:blipFill>
          <a:blip r:embed="rId5"/>
          <a:stretch>
            <a:fillRect/>
          </a:stretch>
        </p:blipFill>
        <p:spPr>
          <a:xfrm>
            <a:off x="6304971" y="3433755"/>
            <a:ext cx="228234" cy="228234"/>
          </a:xfrm>
          <a:prstGeom prst="rect">
            <a:avLst/>
          </a:prstGeom>
        </p:spPr>
      </p:pic>
      <p:sp>
        <p:nvSpPr>
          <p:cNvPr id="29" name="Text 22"/>
          <p:cNvSpPr/>
          <p:nvPr/>
        </p:nvSpPr>
        <p:spPr>
          <a:xfrm>
            <a:off x="6757416" y="3310128"/>
            <a:ext cx="1691640" cy="45720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External databases</a:t>
            </a:r>
            <a:endParaRPr lang="en-US" sz="1350" dirty="0"/>
          </a:p>
        </p:txBody>
      </p:sp>
      <p:sp>
        <p:nvSpPr>
          <p:cNvPr id="30" name="Text 23"/>
          <p:cNvSpPr/>
          <p:nvPr/>
        </p:nvSpPr>
        <p:spPr>
          <a:xfrm>
            <a:off x="6181344" y="3822192"/>
            <a:ext cx="2194560" cy="658368"/>
          </a:xfrm>
          <a:prstGeom prst="rect">
            <a:avLst/>
          </a:prstGeom>
          <a:noFill/>
          <a:ln/>
        </p:spPr>
        <p:txBody>
          <a:bodyPr wrap="square" lIns="0" tIns="0" rIns="0" bIns="0" rtlCol="0" anchor="ctr"/>
          <a:lstStyle/>
          <a:p>
            <a:pPr indent="0" marL="0">
              <a:lnSpc>
                <a:spcPct val="103000"/>
              </a:lnSpc>
              <a:buNone/>
            </a:pPr>
            <a:r>
              <a:rPr lang="en-US" sz="1050" dirty="0">
                <a:solidFill>
                  <a:srgbClr val="C7D6E5"/>
                </a:solidFill>
                <a:latin typeface="Calibri" pitchFamily="34" charset="0"/>
                <a:ea typeface="Calibri" pitchFamily="34" charset="-122"/>
                <a:cs typeface="Calibri" pitchFamily="34" charset="-120"/>
              </a:rPr>
              <a:t>Attach custom SQLite files to associate arbitrary per-file metadata at query time.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200" b="1" spc="300" kern="0" dirty="0">
                <a:solidFill>
                  <a:srgbClr val="2E8BAB"/>
                </a:solidFill>
                <a:latin typeface="Calibri" pitchFamily="34" charset="0"/>
                <a:ea typeface="Calibri" pitchFamily="34" charset="-122"/>
                <a:cs typeface="Calibri" pitchFamily="34" charset="-120"/>
              </a:rPr>
              <a:t>POST-INDEXING OPTIMIZATION</a:t>
            </a:r>
            <a:endParaRPr lang="en-US" sz="1200" dirty="0"/>
          </a:p>
        </p:txBody>
      </p:sp>
      <p:sp>
        <p:nvSpPr>
          <p:cNvPr id="3" name="Text 1"/>
          <p:cNvSpPr/>
          <p:nvPr/>
        </p:nvSpPr>
        <p:spPr>
          <a:xfrm>
            <a:off x="548640" y="749808"/>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Rollup: multi-minute queries → sub-second</a:t>
            </a:r>
            <a:endParaRPr lang="en-US" sz="2800" dirty="0"/>
          </a:p>
        </p:txBody>
      </p:sp>
      <p:sp>
        <p:nvSpPr>
          <p:cNvPr id="4" name="Shape 2"/>
          <p:cNvSpPr/>
          <p:nvPr/>
        </p:nvSpPr>
        <p:spPr>
          <a:xfrm>
            <a:off x="548640" y="1783080"/>
            <a:ext cx="3200400" cy="2743200"/>
          </a:xfrm>
          <a:prstGeom prst="roundRect">
            <a:avLst>
              <a:gd name="adj" fmla="val 3333"/>
            </a:avLst>
          </a:prstGeom>
          <a:solidFill>
            <a:srgbClr val="12304D"/>
          </a:solidFill>
          <a:ln/>
          <a:effectLst>
            <a:outerShdw sx="100000" sy="100000" kx="0" ky="0" algn="bl" rotWithShape="0" blurRad="88900" dist="38100" dir="5400000">
              <a:srgbClr val="0B1F33">
                <a:alpha val="13000"/>
              </a:srgbClr>
            </a:outerShdw>
          </a:effectLst>
        </p:spPr>
      </p:sp>
      <p:sp>
        <p:nvSpPr>
          <p:cNvPr id="5" name="Shape 3"/>
          <p:cNvSpPr/>
          <p:nvPr/>
        </p:nvSpPr>
        <p:spPr>
          <a:xfrm>
            <a:off x="868680" y="2057400"/>
            <a:ext cx="548640" cy="548640"/>
          </a:xfrm>
          <a:prstGeom prst="ellipse">
            <a:avLst/>
          </a:prstGeom>
          <a:solidFill>
            <a:srgbClr val="F5A623"/>
          </a:solidFill>
          <a:ln/>
        </p:spPr>
      </p:sp>
      <p:pic>
        <p:nvPicPr>
          <p:cNvPr id="6" name="Image 0" descr="preencoded.png">    </p:cNvPr>
          <p:cNvPicPr>
            <a:picLocks noChangeAspect="1"/>
          </p:cNvPicPr>
          <p:nvPr/>
        </p:nvPicPr>
        <p:blipFill>
          <a:blip r:embed="rId1"/>
          <a:stretch>
            <a:fillRect/>
          </a:stretch>
        </p:blipFill>
        <p:spPr>
          <a:xfrm>
            <a:off x="1011326" y="2200046"/>
            <a:ext cx="263347" cy="263347"/>
          </a:xfrm>
          <a:prstGeom prst="rect">
            <a:avLst/>
          </a:prstGeom>
        </p:spPr>
      </p:pic>
      <p:sp>
        <p:nvSpPr>
          <p:cNvPr id="7" name="Text 4"/>
          <p:cNvSpPr/>
          <p:nvPr/>
        </p:nvSpPr>
        <p:spPr>
          <a:xfrm>
            <a:off x="640080" y="2606040"/>
            <a:ext cx="3017520" cy="914400"/>
          </a:xfrm>
          <a:prstGeom prst="rect">
            <a:avLst/>
          </a:prstGeom>
          <a:noFill/>
          <a:ln/>
        </p:spPr>
        <p:txBody>
          <a:bodyPr wrap="square" lIns="0" tIns="0" rIns="0" bIns="0" rtlCol="0" anchor="ctr"/>
          <a:lstStyle/>
          <a:p>
            <a:pPr algn="ctr" indent="0" marL="0">
              <a:buNone/>
            </a:pPr>
            <a:r>
              <a:rPr lang="en-US" sz="6000" b="1" dirty="0">
                <a:solidFill>
                  <a:srgbClr val="F5A623"/>
                </a:solidFill>
                <a:latin typeface="Cambria" pitchFamily="34" charset="0"/>
                <a:ea typeface="Cambria" pitchFamily="34" charset="-122"/>
                <a:cs typeface="Cambria" pitchFamily="34" charset="-120"/>
              </a:rPr>
              <a:t>99%+</a:t>
            </a:r>
            <a:endParaRPr lang="en-US" sz="6000" dirty="0"/>
          </a:p>
        </p:txBody>
      </p:sp>
      <p:sp>
        <p:nvSpPr>
          <p:cNvPr id="8" name="Text 5"/>
          <p:cNvSpPr/>
          <p:nvPr/>
        </p:nvSpPr>
        <p:spPr>
          <a:xfrm>
            <a:off x="777240" y="3611880"/>
            <a:ext cx="2743200" cy="822960"/>
          </a:xfrm>
          <a:prstGeom prst="rect">
            <a:avLst/>
          </a:prstGeom>
          <a:noFill/>
          <a:ln/>
        </p:spPr>
        <p:txBody>
          <a:bodyPr wrap="square" lIns="0" tIns="0" rIns="0" bIns="0" rtlCol="0" anchor="ctr"/>
          <a:lstStyle/>
          <a:p>
            <a:pPr algn="ctr" indent="0" marL="0">
              <a:lnSpc>
                <a:spcPct val="105000"/>
              </a:lnSpc>
              <a:buNone/>
            </a:pPr>
            <a:r>
              <a:rPr lang="en-US" sz="1250" dirty="0">
                <a:solidFill>
                  <a:srgbClr val="C7D6E5"/>
                </a:solidFill>
                <a:latin typeface="Calibri" pitchFamily="34" charset="0"/>
                <a:ea typeface="Calibri" pitchFamily="34" charset="-122"/>
                <a:cs typeface="Calibri" pitchFamily="34" charset="-120"/>
              </a:rPr>
              <a:t>fewer directory / database opens in LANL production testing</a:t>
            </a:r>
            <a:endParaRPr lang="en-US" sz="1250" dirty="0"/>
          </a:p>
        </p:txBody>
      </p:sp>
      <p:sp>
        <p:nvSpPr>
          <p:cNvPr id="9" name="Text 6"/>
          <p:cNvSpPr/>
          <p:nvPr/>
        </p:nvSpPr>
        <p:spPr>
          <a:xfrm>
            <a:off x="4114800" y="182880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How it works</a:t>
            </a:r>
            <a:endParaRPr lang="en-US" sz="1600" dirty="0"/>
          </a:p>
        </p:txBody>
      </p:sp>
      <p:sp>
        <p:nvSpPr>
          <p:cNvPr id="10" name="Text 7"/>
          <p:cNvSpPr/>
          <p:nvPr/>
        </p:nvSpPr>
        <p:spPr>
          <a:xfrm>
            <a:off x="4114800" y="2286000"/>
            <a:ext cx="4480560" cy="2194560"/>
          </a:xfrm>
          <a:prstGeom prst="rect">
            <a:avLst/>
          </a:prstGeom>
          <a:noFill/>
          <a:ln/>
        </p:spPr>
        <p:txBody>
          <a:bodyPr wrap="square" lIns="0" tIns="0" rIns="0" bIns="0" rtlCol="0" anchor="ctr"/>
          <a:lstStyle/>
          <a:p>
            <a:pPr marL="177800" indent="-177800">
              <a:spcAft>
                <a:spcPts val="1000"/>
              </a:spcAft>
              <a:buSzPct val="100000"/>
              <a:buChar char="•"/>
            </a:pPr>
            <a:r>
              <a:rPr lang="en-US" sz="1250" dirty="0">
                <a:solidFill>
                  <a:srgbClr val="D5E1EC"/>
                </a:solidFill>
                <a:latin typeface="Calibri" pitchFamily="34" charset="0"/>
                <a:ea typeface="Calibri" pitchFamily="34" charset="-122"/>
                <a:cs typeface="Calibri" pitchFamily="34" charset="-120"/>
              </a:rPr>
              <a:t>Walks the index bottom-up; when a child's permissions are compatible with its parent, the child's contents merge upward</a:t>
            </a:r>
            <a:endParaRPr lang="en-US" sz="1250" dirty="0"/>
          </a:p>
          <a:p>
            <a:pPr marL="177800" indent="-177800">
              <a:spcAft>
                <a:spcPts val="1000"/>
              </a:spcAft>
              <a:buSzPct val="100000"/>
              <a:buChar char="•"/>
            </a:pPr>
            <a:r>
              <a:rPr lang="en-US" sz="1250" dirty="0">
                <a:solidFill>
                  <a:srgbClr val="D5E1EC"/>
                </a:solidFill>
                <a:latin typeface="Calibri" pitchFamily="34" charset="0"/>
                <a:ea typeface="Calibri" pitchFamily="34" charset="-122"/>
                <a:cs typeface="Calibri" pitchFamily="34" charset="-120"/>
              </a:rPr>
              <a:t>The parent's rollup score is set so gufi_query stops descending</a:t>
            </a:r>
            <a:endParaRPr lang="en-US" sz="1250" dirty="0"/>
          </a:p>
          <a:p>
            <a:pPr marL="177800" indent="-177800">
              <a:spcAft>
                <a:spcPts val="1000"/>
              </a:spcAft>
              <a:buSzPct val="100000"/>
              <a:buChar char="•"/>
            </a:pPr>
            <a:r>
              <a:rPr lang="en-US" sz="1250" dirty="0">
                <a:solidFill>
                  <a:srgbClr val="D5E1EC"/>
                </a:solidFill>
                <a:latin typeface="Calibri" pitchFamily="34" charset="0"/>
                <a:ea typeface="Calibri" pitchFamily="34" charset="-122"/>
                <a:cs typeface="Calibri" pitchFamily="34" charset="-120"/>
              </a:rPr>
              <a:t>treesummary tables are generated automatically during the pass</a:t>
            </a:r>
            <a:endParaRPr lang="en-US" sz="1250" dirty="0"/>
          </a:p>
          <a:p>
            <a:pPr marL="177800" indent="-177800">
              <a:spcAft>
                <a:spcPts val="1000"/>
              </a:spcAft>
              <a:buSzPct val="100000"/>
              <a:buChar char="•"/>
            </a:pPr>
            <a:r>
              <a:rPr lang="en-US" sz="1250" dirty="0">
                <a:solidFill>
                  <a:srgbClr val="D5E1EC"/>
                </a:solidFill>
                <a:latin typeface="Calibri" pitchFamily="34" charset="0"/>
                <a:ea typeface="Calibri" pitchFamily="34" charset="-122"/>
                <a:cs typeface="Calibri" pitchFamily="34" charset="-120"/>
              </a:rPr>
              <a:t>Fully reversible with gufi_unrollup; the -L flag caps entries per directory to avoid oversized databases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300" kern="0" dirty="0">
                <a:solidFill>
                  <a:srgbClr val="2E8BAB"/>
                </a:solidFill>
                <a:latin typeface="Calibri" pitchFamily="34" charset="0"/>
                <a:ea typeface="Calibri" pitchFamily="34" charset="-122"/>
                <a:cs typeface="Calibri" pitchFamily="34" charset="-120"/>
              </a:rPr>
              <a:t>QUERYING THE INDEX</a:t>
            </a:r>
            <a:endParaRPr lang="en-US" sz="1200" dirty="0"/>
          </a:p>
        </p:txBody>
      </p:sp>
      <p:sp>
        <p:nvSpPr>
          <p:cNvPr id="3" name="Text 1"/>
          <p:cNvSpPr/>
          <p:nvPr/>
        </p:nvSpPr>
        <p:spPr>
          <a:xfrm>
            <a:off x="548640" y="658368"/>
            <a:ext cx="8046720" cy="640080"/>
          </a:xfrm>
          <a:prstGeom prst="rect">
            <a:avLst/>
          </a:prstGeom>
          <a:noFill/>
          <a:ln/>
        </p:spPr>
        <p:txBody>
          <a:bodyPr wrap="square" lIns="0" tIns="0" rIns="0" bIns="0" rtlCol="0" anchor="ctr"/>
          <a:lstStyle/>
          <a:p>
            <a:pPr indent="0" marL="0">
              <a:buNone/>
            </a:pPr>
            <a:r>
              <a:rPr lang="en-US" sz="3000" b="1" dirty="0">
                <a:solidFill>
                  <a:srgbClr val="0B1F33"/>
                </a:solidFill>
                <a:latin typeface="Cambria" pitchFamily="34" charset="0"/>
                <a:ea typeface="Cambria" pitchFamily="34" charset="-122"/>
                <a:cs typeface="Cambria" pitchFamily="34" charset="-120"/>
              </a:rPr>
              <a:t>Parallel SQL, with built-in pruning</a:t>
            </a:r>
            <a:endParaRPr lang="en-US" sz="3000" dirty="0"/>
          </a:p>
        </p:txBody>
      </p:sp>
      <p:sp>
        <p:nvSpPr>
          <p:cNvPr id="4" name="Text 2"/>
          <p:cNvSpPr/>
          <p:nvPr/>
        </p:nvSpPr>
        <p:spPr>
          <a:xfrm>
            <a:off x="548640" y="1371600"/>
            <a:ext cx="8138160" cy="457200"/>
          </a:xfrm>
          <a:prstGeom prst="rect">
            <a:avLst/>
          </a:prstGeom>
          <a:noFill/>
          <a:ln/>
        </p:spPr>
        <p:txBody>
          <a:bodyPr wrap="square" lIns="0" tIns="0" rIns="0" bIns="0" rtlCol="0" anchor="ctr"/>
          <a:lstStyle/>
          <a:p>
            <a:pPr indent="0" marL="0">
              <a:buNone/>
            </a:pPr>
            <a:r>
              <a:rPr lang="en-US" sz="1350" b="1" dirty="0">
                <a:solidFill>
                  <a:srgbClr val="1C7293"/>
                </a:solidFill>
                <a:latin typeface="Courier New" pitchFamily="34" charset="0"/>
                <a:ea typeface="Courier New" pitchFamily="34" charset="-122"/>
                <a:cs typeface="Courier New" pitchFamily="34" charset="-120"/>
              </a:rPr>
              <a:t>gufi_query</a:t>
            </a:r>
            <a:pPr indent="0" marL="0">
              <a:buNone/>
            </a:pPr>
            <a:r>
              <a:rPr lang="en-US" sz="1350" dirty="0">
                <a:solidFill>
                  <a:srgbClr val="1B2A38"/>
                </a:solidFill>
                <a:latin typeface="Calibri" pitchFamily="34" charset="0"/>
                <a:ea typeface="Calibri" pitchFamily="34" charset="-122"/>
                <a:cs typeface="Calibri" pitchFamily="34" charset="-120"/>
              </a:rPr>
              <a:t> runs your SQL against every directory's database in parallel — </a:t>
            </a:r>
            <a:pPr indent="0" marL="0">
              <a:buNone/>
            </a:pPr>
            <a:r>
              <a:rPr lang="en-US" sz="1350" dirty="0">
                <a:solidFill>
                  <a:srgbClr val="1C7293"/>
                </a:solidFill>
                <a:latin typeface="Courier New" pitchFamily="34" charset="0"/>
                <a:ea typeface="Courier New" pitchFamily="34" charset="-122"/>
                <a:cs typeface="Courier New" pitchFamily="34" charset="-120"/>
              </a:rPr>
              <a:t>-E</a:t>
            </a:r>
            <a:pPr indent="0" marL="0">
              <a:buNone/>
            </a:pPr>
            <a:r>
              <a:rPr lang="en-US" sz="1350" dirty="0">
                <a:solidFill>
                  <a:srgbClr val="1B2A38"/>
                </a:solidFill>
                <a:latin typeface="Calibri" pitchFamily="34" charset="0"/>
                <a:ea typeface="Calibri" pitchFamily="34" charset="-122"/>
                <a:cs typeface="Calibri" pitchFamily="34" charset="-120"/>
              </a:rPr>
              <a:t> against entries, </a:t>
            </a:r>
            <a:pPr indent="0" marL="0">
              <a:buNone/>
            </a:pPr>
            <a:r>
              <a:rPr lang="en-US" sz="1350" dirty="0">
                <a:solidFill>
                  <a:srgbClr val="1C7293"/>
                </a:solidFill>
                <a:latin typeface="Courier New" pitchFamily="34" charset="0"/>
                <a:ea typeface="Courier New" pitchFamily="34" charset="-122"/>
                <a:cs typeface="Courier New" pitchFamily="34" charset="-120"/>
              </a:rPr>
              <a:t>-S</a:t>
            </a:r>
            <a:pPr indent="0" marL="0">
              <a:buNone/>
            </a:pPr>
            <a:r>
              <a:rPr lang="en-US" sz="1350" dirty="0">
                <a:solidFill>
                  <a:srgbClr val="1B2A38"/>
                </a:solidFill>
                <a:latin typeface="Calibri" pitchFamily="34" charset="0"/>
                <a:ea typeface="Calibri" pitchFamily="34" charset="-122"/>
                <a:cs typeface="Calibri" pitchFamily="34" charset="-120"/>
              </a:rPr>
              <a:t> against summary, </a:t>
            </a:r>
            <a:pPr indent="0" marL="0">
              <a:buNone/>
            </a:pPr>
            <a:r>
              <a:rPr lang="en-US" sz="1350" dirty="0">
                <a:solidFill>
                  <a:srgbClr val="1C7293"/>
                </a:solidFill>
                <a:latin typeface="Courier New" pitchFamily="34" charset="0"/>
                <a:ea typeface="Courier New" pitchFamily="34" charset="-122"/>
                <a:cs typeface="Courier New" pitchFamily="34" charset="-120"/>
              </a:rPr>
              <a:t>-T</a:t>
            </a:r>
            <a:pPr indent="0" marL="0">
              <a:buNone/>
            </a:pPr>
            <a:r>
              <a:rPr lang="en-US" sz="1350" dirty="0">
                <a:solidFill>
                  <a:srgbClr val="1B2A38"/>
                </a:solidFill>
                <a:latin typeface="Calibri" pitchFamily="34" charset="0"/>
                <a:ea typeface="Calibri" pitchFamily="34" charset="-122"/>
                <a:cs typeface="Calibri" pitchFamily="34" charset="-120"/>
              </a:rPr>
              <a:t> against treesummary.</a:t>
            </a:r>
            <a:endParaRPr lang="en-US" sz="1350" dirty="0"/>
          </a:p>
        </p:txBody>
      </p:sp>
      <p:sp>
        <p:nvSpPr>
          <p:cNvPr id="5" name="Shape 3"/>
          <p:cNvSpPr/>
          <p:nvPr/>
        </p:nvSpPr>
        <p:spPr>
          <a:xfrm>
            <a:off x="548640" y="1920240"/>
            <a:ext cx="3977640" cy="2606040"/>
          </a:xfrm>
          <a:prstGeom prst="roundRect">
            <a:avLst>
              <a:gd name="adj" fmla="val 2807"/>
            </a:avLst>
          </a:prstGeom>
          <a:solidFill>
            <a:srgbClr val="FFFFFF"/>
          </a:solidFill>
          <a:ln/>
          <a:effectLst>
            <a:outerShdw sx="100000" sy="100000" kx="0" ky="0" algn="bl" rotWithShape="0" blurRad="88900" dist="38100" dir="5400000">
              <a:srgbClr val="0B1F33">
                <a:alpha val="13000"/>
              </a:srgbClr>
            </a:outerShdw>
          </a:effectLst>
        </p:spPr>
      </p:sp>
      <p:sp>
        <p:nvSpPr>
          <p:cNvPr id="6" name="Shape 4"/>
          <p:cNvSpPr/>
          <p:nvPr/>
        </p:nvSpPr>
        <p:spPr>
          <a:xfrm>
            <a:off x="777240" y="2139696"/>
            <a:ext cx="512064" cy="512064"/>
          </a:xfrm>
          <a:prstGeom prst="ellipse">
            <a:avLst/>
          </a:prstGeom>
          <a:solidFill>
            <a:srgbClr val="2E8BAB"/>
          </a:solidFill>
          <a:ln/>
        </p:spPr>
      </p:sp>
      <p:pic>
        <p:nvPicPr>
          <p:cNvPr id="7" name="Image 0" descr="preencoded.png">    </p:cNvPr>
          <p:cNvPicPr>
            <a:picLocks noChangeAspect="1"/>
          </p:cNvPicPr>
          <p:nvPr/>
        </p:nvPicPr>
        <p:blipFill>
          <a:blip r:embed="rId1"/>
          <a:stretch>
            <a:fillRect/>
          </a:stretch>
        </p:blipFill>
        <p:spPr>
          <a:xfrm>
            <a:off x="910377" y="2272833"/>
            <a:ext cx="245791" cy="245791"/>
          </a:xfrm>
          <a:prstGeom prst="rect">
            <a:avLst/>
          </a:prstGeom>
        </p:spPr>
      </p:pic>
      <p:sp>
        <p:nvSpPr>
          <p:cNvPr id="8" name="Text 5"/>
          <p:cNvSpPr/>
          <p:nvPr/>
        </p:nvSpPr>
        <p:spPr>
          <a:xfrm>
            <a:off x="1417320" y="2121408"/>
            <a:ext cx="2926080" cy="411480"/>
          </a:xfrm>
          <a:prstGeom prst="rect">
            <a:avLst/>
          </a:prstGeom>
          <a:noFill/>
          <a:ln/>
        </p:spPr>
        <p:txBody>
          <a:bodyPr wrap="square" lIns="0" tIns="0" rIns="0" bIns="0" rtlCol="0" anchor="ctr"/>
          <a:lstStyle/>
          <a:p>
            <a:pPr indent="0" marL="0">
              <a:buNone/>
            </a:pPr>
            <a:r>
              <a:rPr lang="en-US" sz="1600" b="1" dirty="0">
                <a:solidFill>
                  <a:srgbClr val="0B1F33"/>
                </a:solidFill>
                <a:latin typeface="Cambria" pitchFamily="34" charset="0"/>
                <a:ea typeface="Cambria" pitchFamily="34" charset="-122"/>
                <a:cs typeface="Cambria" pitchFamily="34" charset="-120"/>
              </a:rPr>
              <a:t>Short-circuit pruning</a:t>
            </a:r>
            <a:endParaRPr lang="en-US" sz="1600" dirty="0"/>
          </a:p>
        </p:txBody>
      </p:sp>
      <p:sp>
        <p:nvSpPr>
          <p:cNvPr id="9" name="Text 6"/>
          <p:cNvSpPr/>
          <p:nvPr/>
        </p:nvSpPr>
        <p:spPr>
          <a:xfrm>
            <a:off x="822960" y="2670048"/>
            <a:ext cx="3566160" cy="1783080"/>
          </a:xfrm>
          <a:prstGeom prst="rect">
            <a:avLst/>
          </a:prstGeom>
          <a:noFill/>
          <a:ln/>
        </p:spPr>
        <p:txBody>
          <a:bodyPr wrap="square" lIns="0" tIns="0" rIns="0" bIns="0" rtlCol="0" anchor="ctr"/>
          <a:lstStyle/>
          <a:p>
            <a:pPr marL="177800" indent="-177800">
              <a:spcAft>
                <a:spcPts val="800"/>
              </a:spcAft>
              <a:buSzPct val="100000"/>
              <a:buChar char="•"/>
            </a:pPr>
            <a:r>
              <a:rPr lang="en-US" sz="1200" dirty="0">
                <a:solidFill>
                  <a:srgbClr val="1B2A38"/>
                </a:solidFill>
                <a:latin typeface="Calibri" pitchFamily="34" charset="0"/>
                <a:ea typeface="Calibri" pitchFamily="34" charset="-122"/>
                <a:cs typeface="Calibri" pitchFamily="34" charset="-120"/>
              </a:rPr>
              <a:t>If -T returns no rows, -S and -E are skipped for that directory</a:t>
            </a:r>
            <a:endParaRPr lang="en-US" sz="1200" dirty="0"/>
          </a:p>
          <a:p>
            <a:pPr marL="177800" indent="-177800">
              <a:spcAft>
                <a:spcPts val="800"/>
              </a:spcAft>
              <a:buSzPct val="100000"/>
              <a:buChar char="•"/>
            </a:pPr>
            <a:r>
              <a:rPr lang="en-US" sz="1200" dirty="0">
                <a:solidFill>
                  <a:srgbClr val="1B2A38"/>
                </a:solidFill>
                <a:latin typeface="Calibri" pitchFamily="34" charset="0"/>
                <a:ea typeface="Calibri" pitchFamily="34" charset="-122"/>
                <a:cs typeface="Calibri" pitchFamily="34" charset="-120"/>
              </a:rPr>
              <a:t>If -S returns no rows, -E is skipped</a:t>
            </a:r>
            <a:endParaRPr lang="en-US" sz="1200" dirty="0"/>
          </a:p>
          <a:p>
            <a:pPr marL="177800" indent="-177800">
              <a:spcAft>
                <a:spcPts val="800"/>
              </a:spcAft>
              <a:buSzPct val="100000"/>
              <a:buChar char="•"/>
            </a:pPr>
            <a:r>
              <a:rPr lang="en-US" sz="1200" dirty="0">
                <a:solidFill>
                  <a:srgbClr val="1B2A38"/>
                </a:solidFill>
                <a:latin typeface="Calibri" pitchFamily="34" charset="0"/>
                <a:ea typeface="Calibri" pitchFamily="34" charset="-122"/>
                <a:cs typeface="Calibri" pitchFamily="34" charset="-120"/>
              </a:rPr>
              <a:t>Example: check summary.maxsize before ever opening entries for a “files &gt; 1 MB” query</a:t>
            </a:r>
            <a:endParaRPr lang="en-US" sz="1200" dirty="0"/>
          </a:p>
          <a:p>
            <a:pPr marL="177800" indent="-177800">
              <a:spcAft>
                <a:spcPts val="800"/>
              </a:spcAft>
              <a:buSzPct val="100000"/>
              <a:buChar char="•"/>
            </a:pPr>
            <a:r>
              <a:rPr lang="en-US" sz="1200" dirty="0">
                <a:solidFill>
                  <a:srgbClr val="1B2A38"/>
                </a:solidFill>
                <a:latin typeface="Calibri" pitchFamily="34" charset="0"/>
                <a:ea typeface="Calibri" pitchFamily="34" charset="-122"/>
                <a:cs typeface="Calibri" pitchFamily="34" charset="-120"/>
              </a:rPr>
              <a:t>Use -a to disable short-circuiting and force every statement to run</a:t>
            </a:r>
            <a:endParaRPr lang="en-US" sz="1200" dirty="0"/>
          </a:p>
        </p:txBody>
      </p:sp>
      <p:sp>
        <p:nvSpPr>
          <p:cNvPr id="10" name="Shape 7"/>
          <p:cNvSpPr/>
          <p:nvPr/>
        </p:nvSpPr>
        <p:spPr>
          <a:xfrm>
            <a:off x="4709160" y="1920240"/>
            <a:ext cx="3886200" cy="2606040"/>
          </a:xfrm>
          <a:prstGeom prst="roundRect">
            <a:avLst>
              <a:gd name="adj" fmla="val 2807"/>
            </a:avLst>
          </a:prstGeom>
          <a:solidFill>
            <a:srgbClr val="0B1F33"/>
          </a:solidFill>
          <a:ln/>
          <a:effectLst>
            <a:outerShdw sx="100000" sy="100000" kx="0" ky="0" algn="bl" rotWithShape="0" blurRad="88900" dist="38100" dir="5400000">
              <a:srgbClr val="0B1F33">
                <a:alpha val="13000"/>
              </a:srgbClr>
            </a:outerShdw>
          </a:effectLst>
        </p:spPr>
      </p:sp>
      <p:sp>
        <p:nvSpPr>
          <p:cNvPr id="11" name="Shape 8"/>
          <p:cNvSpPr/>
          <p:nvPr/>
        </p:nvSpPr>
        <p:spPr>
          <a:xfrm>
            <a:off x="4937760" y="2139696"/>
            <a:ext cx="512064" cy="512064"/>
          </a:xfrm>
          <a:prstGeom prst="ellipse">
            <a:avLst/>
          </a:prstGeom>
          <a:solidFill>
            <a:srgbClr val="1C7293"/>
          </a:solidFill>
          <a:ln/>
        </p:spPr>
      </p:sp>
      <p:pic>
        <p:nvPicPr>
          <p:cNvPr id="12" name="Image 1" descr="preencoded.png">    </p:cNvPr>
          <p:cNvPicPr>
            <a:picLocks noChangeAspect="1"/>
          </p:cNvPicPr>
          <p:nvPr/>
        </p:nvPicPr>
        <p:blipFill>
          <a:blip r:embed="rId2"/>
          <a:stretch>
            <a:fillRect/>
          </a:stretch>
        </p:blipFill>
        <p:spPr>
          <a:xfrm>
            <a:off x="5070897" y="2272833"/>
            <a:ext cx="245791" cy="245791"/>
          </a:xfrm>
          <a:prstGeom prst="rect">
            <a:avLst/>
          </a:prstGeom>
        </p:spPr>
      </p:pic>
      <p:sp>
        <p:nvSpPr>
          <p:cNvPr id="13" name="Text 9"/>
          <p:cNvSpPr/>
          <p:nvPr/>
        </p:nvSpPr>
        <p:spPr>
          <a:xfrm>
            <a:off x="5577840" y="2121408"/>
            <a:ext cx="2834640" cy="4114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Built-in SQL functions</a:t>
            </a:r>
            <a:endParaRPr lang="en-US" sz="1600" dirty="0"/>
          </a:p>
        </p:txBody>
      </p:sp>
      <p:sp>
        <p:nvSpPr>
          <p:cNvPr id="14" name="Text 10"/>
          <p:cNvSpPr/>
          <p:nvPr/>
        </p:nvSpPr>
        <p:spPr>
          <a:xfrm>
            <a:off x="4983480" y="2670048"/>
            <a:ext cx="3474720" cy="1783080"/>
          </a:xfrm>
          <a:prstGeom prst="rect">
            <a:avLst/>
          </a:prstGeom>
          <a:noFill/>
          <a:ln/>
        </p:spPr>
        <p:txBody>
          <a:bodyPr wrap="square" lIns="0" tIns="0" rIns="0" bIns="0" rtlCol="0" anchor="ctr"/>
          <a:lstStyle/>
          <a:p>
            <a:pPr marL="177800" indent="-177800">
              <a:spcAft>
                <a:spcPts val="700"/>
              </a:spcAft>
              <a:buSzPct val="100000"/>
              <a:buChar char="•"/>
            </a:pPr>
            <a:r>
              <a:rPr lang="en-US" sz="1150" dirty="0">
                <a:solidFill>
                  <a:srgbClr val="D5E1EC"/>
                </a:solidFill>
                <a:latin typeface="Calibri" pitchFamily="34" charset="0"/>
                <a:ea typeface="Calibri" pitchFamily="34" charset="-122"/>
                <a:cs typeface="Calibri" pitchFamily="34" charset="-120"/>
              </a:rPr>
              <a:t>Utility — uidtouser(), gidtogroup(), modetotxt(), human_readable_size(), regexp() (PCRE2)</a:t>
            </a:r>
            <a:endParaRPr lang="en-US" sz="1150" dirty="0"/>
          </a:p>
          <a:p>
            <a:pPr marL="177800" indent="-177800">
              <a:spcAft>
                <a:spcPts val="700"/>
              </a:spcAft>
              <a:buSzPct val="100000"/>
              <a:buChar char="•"/>
            </a:pPr>
            <a:r>
              <a:rPr lang="en-US" sz="1150" dirty="0">
                <a:solidFill>
                  <a:srgbClr val="D5E1EC"/>
                </a:solidFill>
                <a:latin typeface="Calibri" pitchFamily="34" charset="0"/>
                <a:ea typeface="Calibri" pitchFamily="34" charset="-122"/>
                <a:cs typeface="Calibri" pitchFamily="34" charset="-120"/>
              </a:rPr>
              <a:t>OS interop — intop() / strop() run a shell command per row</a:t>
            </a:r>
            <a:endParaRPr lang="en-US" sz="1150" dirty="0"/>
          </a:p>
          <a:p>
            <a:pPr marL="177800" indent="-177800">
              <a:spcAft>
                <a:spcPts val="700"/>
              </a:spcAft>
              <a:buSzPct val="100000"/>
              <a:buChar char="•"/>
            </a:pPr>
            <a:r>
              <a:rPr lang="en-US" sz="1150" dirty="0">
                <a:solidFill>
                  <a:srgbClr val="D5E1EC"/>
                </a:solidFill>
                <a:latin typeface="Calibri" pitchFamily="34" charset="0"/>
                <a:ea typeface="Calibri" pitchFamily="34" charset="-122"/>
                <a:cs typeface="Calibri" pitchFamily="34" charset="-120"/>
              </a:rPr>
              <a:t>Statistics — median(), stdevs(), stdevp()</a:t>
            </a:r>
            <a:endParaRPr lang="en-US" sz="1150" dirty="0"/>
          </a:p>
          <a:p>
            <a:pPr marL="177800" indent="-177800">
              <a:spcAft>
                <a:spcPts val="700"/>
              </a:spcAft>
              <a:buSzPct val="100000"/>
              <a:buChar char="•"/>
            </a:pPr>
            <a:r>
              <a:rPr lang="en-US" sz="1150" dirty="0">
                <a:solidFill>
                  <a:srgbClr val="D5E1EC"/>
                </a:solidFill>
                <a:latin typeface="Calibri" pitchFamily="34" charset="0"/>
                <a:ea typeface="Calibri" pitchFamily="34" charset="-122"/>
                <a:cs typeface="Calibri" pitchFamily="34" charset="-120"/>
              </a:rPr>
              <a:t>Path-aware — rpath() (rollup-safe), level(), fpath() — always prefer rpath() over path()</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548640" y="411480"/>
            <a:ext cx="73152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AI INTEGRATION</a:t>
            </a:r>
            <a:endParaRPr lang="en-US" sz="1200" dirty="0"/>
          </a:p>
        </p:txBody>
      </p:sp>
      <p:sp>
        <p:nvSpPr>
          <p:cNvPr id="3" name="Text 1"/>
          <p:cNvSpPr/>
          <p:nvPr/>
        </p:nvSpPr>
        <p:spPr>
          <a:xfrm>
            <a:off x="548640" y="685800"/>
            <a:ext cx="841248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Full-text, vector search and RAG — inside the index</a:t>
            </a:r>
            <a:endParaRPr lang="en-US" sz="2600" dirty="0"/>
          </a:p>
        </p:txBody>
      </p:sp>
      <p:sp>
        <p:nvSpPr>
          <p:cNvPr id="4" name="Shape 2"/>
          <p:cNvSpPr/>
          <p:nvPr/>
        </p:nvSpPr>
        <p:spPr>
          <a:xfrm>
            <a:off x="548640" y="1554480"/>
            <a:ext cx="3950208" cy="1481328"/>
          </a:xfrm>
          <a:prstGeom prst="roundRect">
            <a:avLst>
              <a:gd name="adj" fmla="val 4938"/>
            </a:avLst>
          </a:prstGeom>
          <a:solidFill>
            <a:srgbClr val="12304D"/>
          </a:solidFill>
          <a:ln/>
          <a:effectLst>
            <a:outerShdw sx="100000" sy="100000" kx="0" ky="0" algn="bl" rotWithShape="0" blurRad="88900" dist="38100" dir="5400000">
              <a:srgbClr val="0B1F33">
                <a:alpha val="13000"/>
              </a:srgbClr>
            </a:outerShdw>
          </a:effectLst>
        </p:spPr>
      </p:sp>
      <p:sp>
        <p:nvSpPr>
          <p:cNvPr id="5" name="Shape 3"/>
          <p:cNvSpPr/>
          <p:nvPr/>
        </p:nvSpPr>
        <p:spPr>
          <a:xfrm>
            <a:off x="768096" y="1792224"/>
            <a:ext cx="548640" cy="548640"/>
          </a:xfrm>
          <a:prstGeom prst="ellipse">
            <a:avLst/>
          </a:prstGeom>
          <a:solidFill>
            <a:srgbClr val="2E8BAB"/>
          </a:solidFill>
          <a:ln/>
        </p:spPr>
      </p:sp>
      <p:pic>
        <p:nvPicPr>
          <p:cNvPr id="6" name="Image 0" descr="preencoded.png">    </p:cNvPr>
          <p:cNvPicPr>
            <a:picLocks noChangeAspect="1"/>
          </p:cNvPicPr>
          <p:nvPr/>
        </p:nvPicPr>
        <p:blipFill>
          <a:blip r:embed="rId1"/>
          <a:stretch>
            <a:fillRect/>
          </a:stretch>
        </p:blipFill>
        <p:spPr>
          <a:xfrm>
            <a:off x="910742" y="1934870"/>
            <a:ext cx="263347" cy="263347"/>
          </a:xfrm>
          <a:prstGeom prst="rect">
            <a:avLst/>
          </a:prstGeom>
        </p:spPr>
      </p:pic>
      <p:sp>
        <p:nvSpPr>
          <p:cNvPr id="7" name="Text 4"/>
          <p:cNvSpPr/>
          <p:nvPr/>
        </p:nvSpPr>
        <p:spPr>
          <a:xfrm>
            <a:off x="1463040" y="1755648"/>
            <a:ext cx="2898648"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Full-Text Search</a:t>
            </a:r>
            <a:endParaRPr lang="en-US" sz="1550" dirty="0"/>
          </a:p>
        </p:txBody>
      </p:sp>
      <p:sp>
        <p:nvSpPr>
          <p:cNvPr id="8" name="Text 5"/>
          <p:cNvSpPr/>
          <p:nvPr/>
        </p:nvSpPr>
        <p:spPr>
          <a:xfrm>
            <a:off x="1463040" y="2121408"/>
            <a:ext cx="2871216" cy="841248"/>
          </a:xfrm>
          <a:prstGeom prst="rect">
            <a:avLst/>
          </a:prstGeom>
          <a:noFill/>
          <a:ln/>
        </p:spPr>
        <p:txBody>
          <a:bodyPr wrap="square" lIns="0" tIns="0" rIns="0" bIns="0" rtlCol="0" anchor="ctr"/>
          <a:lstStyle/>
          <a:p>
            <a:pPr indent="0" marL="0">
              <a:lnSpc>
                <a:spcPct val="104000"/>
              </a:lnSpc>
              <a:buNone/>
            </a:pPr>
            <a:r>
              <a:rPr lang="en-US" sz="1100" dirty="0">
                <a:solidFill>
                  <a:srgbClr val="C7D6E5"/>
                </a:solidFill>
                <a:latin typeface="Calibri" pitchFamily="34" charset="0"/>
                <a:ea typeface="Calibri" pitchFamily="34" charset="-122"/>
                <a:cs typeface="Calibri" pitchFamily="34" charset="-120"/>
              </a:rPr>
              <a:t>Bundled SQLite ships FTS5. Create FTS5 virtual tables over extracted file content and MATCH keywords, joined to file metadata by inode.</a:t>
            </a:r>
            <a:endParaRPr lang="en-US" sz="1100" dirty="0"/>
          </a:p>
        </p:txBody>
      </p:sp>
      <p:sp>
        <p:nvSpPr>
          <p:cNvPr id="9" name="Shape 6"/>
          <p:cNvSpPr/>
          <p:nvPr/>
        </p:nvSpPr>
        <p:spPr>
          <a:xfrm>
            <a:off x="4645152" y="1554480"/>
            <a:ext cx="3950208" cy="1481328"/>
          </a:xfrm>
          <a:prstGeom prst="roundRect">
            <a:avLst>
              <a:gd name="adj" fmla="val 4938"/>
            </a:avLst>
          </a:prstGeom>
          <a:solidFill>
            <a:srgbClr val="12304D"/>
          </a:solidFill>
          <a:ln/>
          <a:effectLst>
            <a:outerShdw sx="100000" sy="100000" kx="0" ky="0" algn="bl" rotWithShape="0" blurRad="88900" dist="38100" dir="5400000">
              <a:srgbClr val="0B1F33">
                <a:alpha val="13000"/>
              </a:srgbClr>
            </a:outerShdw>
          </a:effectLst>
        </p:spPr>
      </p:sp>
      <p:sp>
        <p:nvSpPr>
          <p:cNvPr id="10" name="Shape 7"/>
          <p:cNvSpPr/>
          <p:nvPr/>
        </p:nvSpPr>
        <p:spPr>
          <a:xfrm>
            <a:off x="4864608" y="1792224"/>
            <a:ext cx="548640" cy="548640"/>
          </a:xfrm>
          <a:prstGeom prst="ellipse">
            <a:avLst/>
          </a:prstGeom>
          <a:solidFill>
            <a:srgbClr val="2E8BAB"/>
          </a:solidFill>
          <a:ln/>
        </p:spPr>
      </p:sp>
      <p:pic>
        <p:nvPicPr>
          <p:cNvPr id="11" name="Image 1" descr="preencoded.png">    </p:cNvPr>
          <p:cNvPicPr>
            <a:picLocks noChangeAspect="1"/>
          </p:cNvPicPr>
          <p:nvPr/>
        </p:nvPicPr>
        <p:blipFill>
          <a:blip r:embed="rId2"/>
          <a:stretch>
            <a:fillRect/>
          </a:stretch>
        </p:blipFill>
        <p:spPr>
          <a:xfrm>
            <a:off x="5007254" y="1934870"/>
            <a:ext cx="263347" cy="263347"/>
          </a:xfrm>
          <a:prstGeom prst="rect">
            <a:avLst/>
          </a:prstGeom>
        </p:spPr>
      </p:pic>
      <p:sp>
        <p:nvSpPr>
          <p:cNvPr id="12" name="Text 8"/>
          <p:cNvSpPr/>
          <p:nvPr/>
        </p:nvSpPr>
        <p:spPr>
          <a:xfrm>
            <a:off x="5559552" y="1755648"/>
            <a:ext cx="2898648"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Vector NN search</a:t>
            </a:r>
            <a:endParaRPr lang="en-US" sz="1550" dirty="0"/>
          </a:p>
        </p:txBody>
      </p:sp>
      <p:sp>
        <p:nvSpPr>
          <p:cNvPr id="13" name="Text 9"/>
          <p:cNvSpPr/>
          <p:nvPr/>
        </p:nvSpPr>
        <p:spPr>
          <a:xfrm>
            <a:off x="5559552" y="2121408"/>
            <a:ext cx="2871216" cy="841248"/>
          </a:xfrm>
          <a:prstGeom prst="rect">
            <a:avLst/>
          </a:prstGeom>
          <a:noFill/>
          <a:ln/>
        </p:spPr>
        <p:txBody>
          <a:bodyPr wrap="square" lIns="0" tIns="0" rIns="0" bIns="0" rtlCol="0" anchor="ctr"/>
          <a:lstStyle/>
          <a:p>
            <a:pPr indent="0" marL="0">
              <a:lnSpc>
                <a:spcPct val="104000"/>
              </a:lnSpc>
              <a:buNone/>
            </a:pPr>
            <a:r>
              <a:rPr lang="en-US" sz="1100" dirty="0">
                <a:solidFill>
                  <a:srgbClr val="C7D6E5"/>
                </a:solidFill>
                <a:latin typeface="Calibri" pitchFamily="34" charset="0"/>
                <a:ea typeface="Calibri" pitchFamily="34" charset="-122"/>
                <a:cs typeface="Calibri" pitchFamily="34" charset="-120"/>
              </a:rPr>
              <a:t>sqlite-lembed generates embeddings; sqlite-vec runs KNN similarity. Find files semantically related to a phrase, with progressive pruning at scale.</a:t>
            </a:r>
            <a:endParaRPr lang="en-US" sz="1100" dirty="0"/>
          </a:p>
        </p:txBody>
      </p:sp>
      <p:sp>
        <p:nvSpPr>
          <p:cNvPr id="14" name="Shape 10"/>
          <p:cNvSpPr/>
          <p:nvPr/>
        </p:nvSpPr>
        <p:spPr>
          <a:xfrm>
            <a:off x="548640" y="3163824"/>
            <a:ext cx="3950208" cy="1481328"/>
          </a:xfrm>
          <a:prstGeom prst="roundRect">
            <a:avLst>
              <a:gd name="adj" fmla="val 4938"/>
            </a:avLst>
          </a:prstGeom>
          <a:solidFill>
            <a:srgbClr val="12304D"/>
          </a:solidFill>
          <a:ln/>
          <a:effectLst>
            <a:outerShdw sx="100000" sy="100000" kx="0" ky="0" algn="bl" rotWithShape="0" blurRad="88900" dist="38100" dir="5400000">
              <a:srgbClr val="0B1F33">
                <a:alpha val="13000"/>
              </a:srgbClr>
            </a:outerShdw>
          </a:effectLst>
        </p:spPr>
      </p:sp>
      <p:sp>
        <p:nvSpPr>
          <p:cNvPr id="15" name="Shape 11"/>
          <p:cNvSpPr/>
          <p:nvPr/>
        </p:nvSpPr>
        <p:spPr>
          <a:xfrm>
            <a:off x="768096" y="3401568"/>
            <a:ext cx="548640" cy="548640"/>
          </a:xfrm>
          <a:prstGeom prst="ellipse">
            <a:avLst/>
          </a:prstGeom>
          <a:solidFill>
            <a:srgbClr val="2E8BAB"/>
          </a:solidFill>
          <a:ln/>
        </p:spPr>
      </p:sp>
      <p:pic>
        <p:nvPicPr>
          <p:cNvPr id="16" name="Image 2" descr="preencoded.png">    </p:cNvPr>
          <p:cNvPicPr>
            <a:picLocks noChangeAspect="1"/>
          </p:cNvPicPr>
          <p:nvPr/>
        </p:nvPicPr>
        <p:blipFill>
          <a:blip r:embed="rId3"/>
          <a:stretch>
            <a:fillRect/>
          </a:stretch>
        </p:blipFill>
        <p:spPr>
          <a:xfrm>
            <a:off x="910742" y="3544214"/>
            <a:ext cx="263347" cy="263347"/>
          </a:xfrm>
          <a:prstGeom prst="rect">
            <a:avLst/>
          </a:prstGeom>
        </p:spPr>
      </p:pic>
      <p:sp>
        <p:nvSpPr>
          <p:cNvPr id="17" name="Text 12"/>
          <p:cNvSpPr/>
          <p:nvPr/>
        </p:nvSpPr>
        <p:spPr>
          <a:xfrm>
            <a:off x="1463040" y="3364992"/>
            <a:ext cx="2898648"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RAG with local LLMs</a:t>
            </a:r>
            <a:endParaRPr lang="en-US" sz="1550" dirty="0"/>
          </a:p>
        </p:txBody>
      </p:sp>
      <p:sp>
        <p:nvSpPr>
          <p:cNvPr id="18" name="Text 13"/>
          <p:cNvSpPr/>
          <p:nvPr/>
        </p:nvSpPr>
        <p:spPr>
          <a:xfrm>
            <a:off x="1463040" y="3730752"/>
            <a:ext cx="2871216" cy="841248"/>
          </a:xfrm>
          <a:prstGeom prst="rect">
            <a:avLst/>
          </a:prstGeom>
          <a:noFill/>
          <a:ln/>
        </p:spPr>
        <p:txBody>
          <a:bodyPr wrap="square" lIns="0" tIns="0" rIns="0" bIns="0" rtlCol="0" anchor="ctr"/>
          <a:lstStyle/>
          <a:p>
            <a:pPr indent="0" marL="0">
              <a:lnSpc>
                <a:spcPct val="104000"/>
              </a:lnSpc>
              <a:buNone/>
            </a:pPr>
            <a:r>
              <a:rPr lang="en-US" sz="1100" dirty="0">
                <a:solidFill>
                  <a:srgbClr val="C7D6E5"/>
                </a:solidFill>
                <a:latin typeface="Calibri" pitchFamily="34" charset="0"/>
                <a:ea typeface="Calibri" pitchFamily="34" charset="-122"/>
                <a:cs typeface="Calibri" pitchFamily="34" charset="-120"/>
              </a:rPr>
              <a:t>Top-k relevant documents feed a local model (e.g. llamafile) as context — answers grounded only in data the user may access.</a:t>
            </a:r>
            <a:endParaRPr lang="en-US" sz="1100" dirty="0"/>
          </a:p>
        </p:txBody>
      </p:sp>
      <p:sp>
        <p:nvSpPr>
          <p:cNvPr id="19" name="Shape 14"/>
          <p:cNvSpPr/>
          <p:nvPr/>
        </p:nvSpPr>
        <p:spPr>
          <a:xfrm>
            <a:off x="4645152" y="3163824"/>
            <a:ext cx="3950208" cy="1481328"/>
          </a:xfrm>
          <a:prstGeom prst="roundRect">
            <a:avLst>
              <a:gd name="adj" fmla="val 4938"/>
            </a:avLst>
          </a:prstGeom>
          <a:solidFill>
            <a:srgbClr val="12304D"/>
          </a:solidFill>
          <a:ln/>
          <a:effectLst>
            <a:outerShdw sx="100000" sy="100000" kx="0" ky="0" algn="bl" rotWithShape="0" blurRad="88900" dist="38100" dir="5400000">
              <a:srgbClr val="0B1F33">
                <a:alpha val="13000"/>
              </a:srgbClr>
            </a:outerShdw>
          </a:effectLst>
        </p:spPr>
      </p:sp>
      <p:sp>
        <p:nvSpPr>
          <p:cNvPr id="20" name="Shape 15"/>
          <p:cNvSpPr/>
          <p:nvPr/>
        </p:nvSpPr>
        <p:spPr>
          <a:xfrm>
            <a:off x="4864608" y="3401568"/>
            <a:ext cx="548640" cy="548640"/>
          </a:xfrm>
          <a:prstGeom prst="ellipse">
            <a:avLst/>
          </a:prstGeom>
          <a:solidFill>
            <a:srgbClr val="2E8BAB"/>
          </a:solidFill>
          <a:ln/>
        </p:spPr>
      </p:sp>
      <p:pic>
        <p:nvPicPr>
          <p:cNvPr id="21" name="Image 3" descr="preencoded.png">    </p:cNvPr>
          <p:cNvPicPr>
            <a:picLocks noChangeAspect="1"/>
          </p:cNvPicPr>
          <p:nvPr/>
        </p:nvPicPr>
        <p:blipFill>
          <a:blip r:embed="rId4"/>
          <a:stretch>
            <a:fillRect/>
          </a:stretch>
        </p:blipFill>
        <p:spPr>
          <a:xfrm>
            <a:off x="5007254" y="3544214"/>
            <a:ext cx="263347" cy="263347"/>
          </a:xfrm>
          <a:prstGeom prst="rect">
            <a:avLst/>
          </a:prstGeom>
        </p:spPr>
      </p:pic>
      <p:sp>
        <p:nvSpPr>
          <p:cNvPr id="22" name="Text 16"/>
          <p:cNvSpPr/>
          <p:nvPr/>
        </p:nvSpPr>
        <p:spPr>
          <a:xfrm>
            <a:off x="5559552" y="3364992"/>
            <a:ext cx="2898648"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MCP for AI agents</a:t>
            </a:r>
            <a:endParaRPr lang="en-US" sz="1550" dirty="0"/>
          </a:p>
        </p:txBody>
      </p:sp>
      <p:sp>
        <p:nvSpPr>
          <p:cNvPr id="23" name="Text 17"/>
          <p:cNvSpPr/>
          <p:nvPr/>
        </p:nvSpPr>
        <p:spPr>
          <a:xfrm>
            <a:off x="5559552" y="3730752"/>
            <a:ext cx="2871216" cy="841248"/>
          </a:xfrm>
          <a:prstGeom prst="rect">
            <a:avLst/>
          </a:prstGeom>
          <a:noFill/>
          <a:ln/>
        </p:spPr>
        <p:txBody>
          <a:bodyPr wrap="square" lIns="0" tIns="0" rIns="0" bIns="0" rtlCol="0" anchor="ctr"/>
          <a:lstStyle/>
          <a:p>
            <a:pPr indent="0" marL="0">
              <a:lnSpc>
                <a:spcPct val="104000"/>
              </a:lnSpc>
              <a:buNone/>
            </a:pPr>
            <a:r>
              <a:rPr lang="en-US" sz="1100" dirty="0">
                <a:solidFill>
                  <a:srgbClr val="C7D6E5"/>
                </a:solidFill>
                <a:latin typeface="Calibri" pitchFamily="34" charset="0"/>
                <a:ea typeface="Calibri" pitchFamily="34" charset="-122"/>
                <a:cs typeface="Calibri" pitchFamily="34" charset="-120"/>
              </a:rPr>
              <a:t>Exposed as standard SQLite tables, GUFI is natively queryable by Model Context Protocol agents — with full security enforcement intact.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300" kern="0" dirty="0">
                <a:solidFill>
                  <a:srgbClr val="2E8BAB"/>
                </a:solidFill>
                <a:latin typeface="Calibri" pitchFamily="34" charset="0"/>
                <a:ea typeface="Calibri" pitchFamily="34" charset="-122"/>
                <a:cs typeface="Calibri" pitchFamily="34" charset="-120"/>
              </a:rPr>
              <a:t>ECOSYSTEM INTEGRATION</a:t>
            </a:r>
            <a:endParaRPr lang="en-US" sz="1200" dirty="0"/>
          </a:p>
        </p:txBody>
      </p:sp>
      <p:sp>
        <p:nvSpPr>
          <p:cNvPr id="3" name="Text 1"/>
          <p:cNvSpPr/>
          <p:nvPr/>
        </p:nvSpPr>
        <p:spPr>
          <a:xfrm>
            <a:off x="548640" y="658368"/>
            <a:ext cx="8046720" cy="640080"/>
          </a:xfrm>
          <a:prstGeom prst="rect">
            <a:avLst/>
          </a:prstGeom>
          <a:noFill/>
          <a:ln/>
        </p:spPr>
        <p:txBody>
          <a:bodyPr wrap="square" lIns="0" tIns="0" rIns="0" bIns="0" rtlCol="0" anchor="ctr"/>
          <a:lstStyle/>
          <a:p>
            <a:pPr indent="0" marL="0">
              <a:buNone/>
            </a:pPr>
            <a:r>
              <a:rPr lang="en-US" sz="3000" b="1" dirty="0">
                <a:solidFill>
                  <a:srgbClr val="0B1F33"/>
                </a:solidFill>
                <a:latin typeface="Cambria" pitchFamily="34" charset="0"/>
                <a:ea typeface="Cambria" pitchFamily="34" charset="-122"/>
                <a:cs typeface="Cambria" pitchFamily="34" charset="-120"/>
              </a:rPr>
              <a:t>Any GUFI query looks like a SQLite table</a:t>
            </a:r>
            <a:endParaRPr lang="en-US" sz="3000" dirty="0"/>
          </a:p>
        </p:txBody>
      </p:sp>
      <p:sp>
        <p:nvSpPr>
          <p:cNvPr id="4" name="Text 2"/>
          <p:cNvSpPr/>
          <p:nvPr/>
        </p:nvSpPr>
        <p:spPr>
          <a:xfrm>
            <a:off x="548640" y="1371600"/>
            <a:ext cx="8138160" cy="457200"/>
          </a:xfrm>
          <a:prstGeom prst="rect">
            <a:avLst/>
          </a:prstGeom>
          <a:noFill/>
          <a:ln/>
        </p:spPr>
        <p:txBody>
          <a:bodyPr wrap="square" lIns="0" tIns="0" rIns="0" bIns="0" rtlCol="0" anchor="ctr"/>
          <a:lstStyle/>
          <a:p>
            <a:pPr indent="0" marL="0">
              <a:buNone/>
            </a:pPr>
            <a:r>
              <a:rPr lang="en-US" sz="1350" dirty="0">
                <a:solidFill>
                  <a:srgbClr val="1B2A38"/>
                </a:solidFill>
                <a:latin typeface="Calibri" pitchFamily="34" charset="0"/>
                <a:ea typeface="Calibri" pitchFamily="34" charset="-122"/>
                <a:cs typeface="Calibri" pitchFamily="34" charset="-120"/>
              </a:rPr>
              <a:t>The </a:t>
            </a:r>
            <a:pPr indent="0" marL="0">
              <a:buNone/>
            </a:pPr>
            <a:r>
              <a:rPr lang="en-US" sz="1350" b="1" dirty="0">
                <a:solidFill>
                  <a:srgbClr val="1C7293"/>
                </a:solidFill>
                <a:latin typeface="Courier New" pitchFamily="34" charset="0"/>
                <a:ea typeface="Courier New" pitchFamily="34" charset="-122"/>
                <a:cs typeface="Courier New" pitchFamily="34" charset="-120"/>
              </a:rPr>
              <a:t>gufi_vt</a:t>
            </a:r>
            <a:pPr indent="0" marL="0">
              <a:buNone/>
            </a:pPr>
            <a:r>
              <a:rPr lang="en-US" sz="1350" dirty="0">
                <a:solidFill>
                  <a:srgbClr val="1B2A38"/>
                </a:solidFill>
                <a:latin typeface="Calibri" pitchFamily="34" charset="0"/>
                <a:ea typeface="Calibri" pitchFamily="34" charset="-122"/>
                <a:cs typeface="Calibri" pitchFamily="34" charset="-120"/>
              </a:rPr>
              <a:t> virtual-table extension makes any gufi_query appear as a native SQLite table — the bridge to the entire data ecosystem.</a:t>
            </a:r>
            <a:endParaRPr lang="en-US" sz="1350" dirty="0"/>
          </a:p>
        </p:txBody>
      </p:sp>
      <p:sp>
        <p:nvSpPr>
          <p:cNvPr id="5" name="Shape 3"/>
          <p:cNvSpPr/>
          <p:nvPr/>
        </p:nvSpPr>
        <p:spPr>
          <a:xfrm>
            <a:off x="548640" y="1965960"/>
            <a:ext cx="2615184" cy="1207008"/>
          </a:xfrm>
          <a:prstGeom prst="roundRect">
            <a:avLst>
              <a:gd name="adj" fmla="val 5303"/>
            </a:avLst>
          </a:prstGeom>
          <a:solidFill>
            <a:srgbClr val="FFFFFF"/>
          </a:solidFill>
          <a:ln/>
          <a:effectLst>
            <a:outerShdw sx="100000" sy="100000" kx="0" ky="0" algn="bl" rotWithShape="0" blurRad="88900" dist="38100" dir="5400000">
              <a:srgbClr val="0B1F33">
                <a:alpha val="13000"/>
              </a:srgbClr>
            </a:outerShdw>
          </a:effectLst>
        </p:spPr>
      </p:sp>
      <p:sp>
        <p:nvSpPr>
          <p:cNvPr id="6" name="Shape 4"/>
          <p:cNvSpPr/>
          <p:nvPr/>
        </p:nvSpPr>
        <p:spPr>
          <a:xfrm>
            <a:off x="749808" y="2167128"/>
            <a:ext cx="457200" cy="457200"/>
          </a:xfrm>
          <a:prstGeom prst="ellipse">
            <a:avLst/>
          </a:prstGeom>
          <a:solidFill>
            <a:srgbClr val="2E8BAB"/>
          </a:solidFill>
          <a:ln/>
        </p:spPr>
      </p:sp>
      <p:pic>
        <p:nvPicPr>
          <p:cNvPr id="7" name="Image 0" descr="preencoded.png">    </p:cNvPr>
          <p:cNvPicPr>
            <a:picLocks noChangeAspect="1"/>
          </p:cNvPicPr>
          <p:nvPr/>
        </p:nvPicPr>
        <p:blipFill>
          <a:blip r:embed="rId1"/>
          <a:stretch>
            <a:fillRect/>
          </a:stretch>
        </p:blipFill>
        <p:spPr>
          <a:xfrm>
            <a:off x="868680" y="2286000"/>
            <a:ext cx="219456" cy="219456"/>
          </a:xfrm>
          <a:prstGeom prst="rect">
            <a:avLst/>
          </a:prstGeom>
        </p:spPr>
      </p:pic>
      <p:sp>
        <p:nvSpPr>
          <p:cNvPr id="8" name="Text 5"/>
          <p:cNvSpPr/>
          <p:nvPr/>
        </p:nvSpPr>
        <p:spPr>
          <a:xfrm>
            <a:off x="1298448" y="2148840"/>
            <a:ext cx="1746504" cy="457200"/>
          </a:xfrm>
          <a:prstGeom prst="rect">
            <a:avLst/>
          </a:prstGeom>
          <a:noFill/>
          <a:ln/>
        </p:spPr>
        <p:txBody>
          <a:bodyPr wrap="square" lIns="0" tIns="0" rIns="0" bIns="0" rtlCol="0" anchor="ctr"/>
          <a:lstStyle/>
          <a:p>
            <a:pPr indent="0" marL="0">
              <a:buNone/>
            </a:pPr>
            <a:r>
              <a:rPr lang="en-US" sz="1400" b="1" dirty="0">
                <a:solidFill>
                  <a:srgbClr val="0B1F33"/>
                </a:solidFill>
                <a:latin typeface="Cambria" pitchFamily="34" charset="0"/>
                <a:ea typeface="Cambria" pitchFamily="34" charset="-122"/>
                <a:cs typeface="Cambria" pitchFamily="34" charset="-120"/>
              </a:rPr>
              <a:t>Python</a:t>
            </a:r>
            <a:endParaRPr lang="en-US" sz="1400" dirty="0"/>
          </a:p>
        </p:txBody>
      </p:sp>
      <p:sp>
        <p:nvSpPr>
          <p:cNvPr id="9" name="Text 6"/>
          <p:cNvSpPr/>
          <p:nvPr/>
        </p:nvSpPr>
        <p:spPr>
          <a:xfrm>
            <a:off x="749808" y="2642616"/>
            <a:ext cx="2249424" cy="475488"/>
          </a:xfrm>
          <a:prstGeom prst="rect">
            <a:avLst/>
          </a:prstGeom>
          <a:noFill/>
          <a:ln/>
        </p:spPr>
        <p:txBody>
          <a:bodyPr wrap="square" lIns="0" tIns="0" rIns="0" bIns="0" rtlCol="0" anchor="ctr"/>
          <a:lstStyle/>
          <a:p>
            <a:pPr indent="0" marL="0">
              <a:lnSpc>
                <a:spcPct val="102000"/>
              </a:lnSpc>
              <a:buNone/>
            </a:pPr>
            <a:r>
              <a:rPr lang="en-US" sz="1030" dirty="0">
                <a:solidFill>
                  <a:srgbClr val="5A6B7B"/>
                </a:solidFill>
                <a:latin typeface="Calibri" pitchFamily="34" charset="0"/>
                <a:ea typeface="Calibri" pitchFamily="34" charset="-122"/>
                <a:cs typeface="Calibri" pitchFamily="34" charset="-120"/>
              </a:rPr>
              <a:t>Consume via SQLAlchemy or any SQLite library as ordinary tables.</a:t>
            </a:r>
            <a:endParaRPr lang="en-US" sz="1030" dirty="0"/>
          </a:p>
        </p:txBody>
      </p:sp>
      <p:sp>
        <p:nvSpPr>
          <p:cNvPr id="10" name="Shape 7"/>
          <p:cNvSpPr/>
          <p:nvPr/>
        </p:nvSpPr>
        <p:spPr>
          <a:xfrm>
            <a:off x="3310128" y="1965960"/>
            <a:ext cx="2615184" cy="1207008"/>
          </a:xfrm>
          <a:prstGeom prst="roundRect">
            <a:avLst>
              <a:gd name="adj" fmla="val 5303"/>
            </a:avLst>
          </a:prstGeom>
          <a:solidFill>
            <a:srgbClr val="FFFFFF"/>
          </a:solidFill>
          <a:ln/>
          <a:effectLst>
            <a:outerShdw sx="100000" sy="100000" kx="0" ky="0" algn="bl" rotWithShape="0" blurRad="88900" dist="38100" dir="5400000">
              <a:srgbClr val="0B1F33">
                <a:alpha val="13000"/>
              </a:srgbClr>
            </a:outerShdw>
          </a:effectLst>
        </p:spPr>
      </p:sp>
      <p:sp>
        <p:nvSpPr>
          <p:cNvPr id="11" name="Shape 8"/>
          <p:cNvSpPr/>
          <p:nvPr/>
        </p:nvSpPr>
        <p:spPr>
          <a:xfrm>
            <a:off x="3511296" y="2167128"/>
            <a:ext cx="457200" cy="457200"/>
          </a:xfrm>
          <a:prstGeom prst="ellipse">
            <a:avLst/>
          </a:prstGeom>
          <a:solidFill>
            <a:srgbClr val="2E8BAB"/>
          </a:solidFill>
          <a:ln/>
        </p:spPr>
      </p:sp>
      <p:pic>
        <p:nvPicPr>
          <p:cNvPr id="12" name="Image 1" descr="preencoded.png">    </p:cNvPr>
          <p:cNvPicPr>
            <a:picLocks noChangeAspect="1"/>
          </p:cNvPicPr>
          <p:nvPr/>
        </p:nvPicPr>
        <p:blipFill>
          <a:blip r:embed="rId2"/>
          <a:stretch>
            <a:fillRect/>
          </a:stretch>
        </p:blipFill>
        <p:spPr>
          <a:xfrm>
            <a:off x="3630168" y="2286000"/>
            <a:ext cx="219456" cy="219456"/>
          </a:xfrm>
          <a:prstGeom prst="rect">
            <a:avLst/>
          </a:prstGeom>
        </p:spPr>
      </p:pic>
      <p:sp>
        <p:nvSpPr>
          <p:cNvPr id="13" name="Text 9"/>
          <p:cNvSpPr/>
          <p:nvPr/>
        </p:nvSpPr>
        <p:spPr>
          <a:xfrm>
            <a:off x="4059936" y="2148840"/>
            <a:ext cx="1746504" cy="457200"/>
          </a:xfrm>
          <a:prstGeom prst="rect">
            <a:avLst/>
          </a:prstGeom>
          <a:noFill/>
          <a:ln/>
        </p:spPr>
        <p:txBody>
          <a:bodyPr wrap="square" lIns="0" tIns="0" rIns="0" bIns="0" rtlCol="0" anchor="ctr"/>
          <a:lstStyle/>
          <a:p>
            <a:pPr indent="0" marL="0">
              <a:buNone/>
            </a:pPr>
            <a:r>
              <a:rPr lang="en-US" sz="1400" b="1" dirty="0">
                <a:solidFill>
                  <a:srgbClr val="0B1F33"/>
                </a:solidFill>
                <a:latin typeface="Cambria" pitchFamily="34" charset="0"/>
                <a:ea typeface="Cambria" pitchFamily="34" charset="-122"/>
                <a:cs typeface="Cambria" pitchFamily="34" charset="-120"/>
              </a:rPr>
              <a:t>R</a:t>
            </a:r>
            <a:endParaRPr lang="en-US" sz="1400" dirty="0"/>
          </a:p>
        </p:txBody>
      </p:sp>
      <p:sp>
        <p:nvSpPr>
          <p:cNvPr id="14" name="Text 10"/>
          <p:cNvSpPr/>
          <p:nvPr/>
        </p:nvSpPr>
        <p:spPr>
          <a:xfrm>
            <a:off x="3511296" y="2642616"/>
            <a:ext cx="2249424" cy="475488"/>
          </a:xfrm>
          <a:prstGeom prst="rect">
            <a:avLst/>
          </a:prstGeom>
          <a:noFill/>
          <a:ln/>
        </p:spPr>
        <p:txBody>
          <a:bodyPr wrap="square" lIns="0" tIns="0" rIns="0" bIns="0" rtlCol="0" anchor="ctr"/>
          <a:lstStyle/>
          <a:p>
            <a:pPr indent="0" marL="0">
              <a:lnSpc>
                <a:spcPct val="102000"/>
              </a:lnSpc>
              <a:buNone/>
            </a:pPr>
            <a:r>
              <a:rPr lang="en-US" sz="1030" dirty="0">
                <a:solidFill>
                  <a:srgbClr val="5A6B7B"/>
                </a:solidFill>
                <a:latin typeface="Calibri" pitchFamily="34" charset="0"/>
                <a:ea typeface="Calibri" pitchFamily="34" charset="-122"/>
                <a:cs typeface="Calibri" pitchFamily="34" charset="-120"/>
              </a:rPr>
              <a:t>Query through RSQLite with the loaded gufi_vt extension.</a:t>
            </a:r>
            <a:endParaRPr lang="en-US" sz="1030" dirty="0"/>
          </a:p>
        </p:txBody>
      </p:sp>
      <p:sp>
        <p:nvSpPr>
          <p:cNvPr id="15" name="Shape 11"/>
          <p:cNvSpPr/>
          <p:nvPr/>
        </p:nvSpPr>
        <p:spPr>
          <a:xfrm>
            <a:off x="6071616" y="1965960"/>
            <a:ext cx="2615184" cy="1207008"/>
          </a:xfrm>
          <a:prstGeom prst="roundRect">
            <a:avLst>
              <a:gd name="adj" fmla="val 5303"/>
            </a:avLst>
          </a:prstGeom>
          <a:solidFill>
            <a:srgbClr val="FFFFFF"/>
          </a:solidFill>
          <a:ln/>
          <a:effectLst>
            <a:outerShdw sx="100000" sy="100000" kx="0" ky="0" algn="bl" rotWithShape="0" blurRad="88900" dist="38100" dir="5400000">
              <a:srgbClr val="0B1F33">
                <a:alpha val="13000"/>
              </a:srgbClr>
            </a:outerShdw>
          </a:effectLst>
        </p:spPr>
      </p:sp>
      <p:sp>
        <p:nvSpPr>
          <p:cNvPr id="16" name="Shape 12"/>
          <p:cNvSpPr/>
          <p:nvPr/>
        </p:nvSpPr>
        <p:spPr>
          <a:xfrm>
            <a:off x="6272784" y="2167128"/>
            <a:ext cx="457200" cy="457200"/>
          </a:xfrm>
          <a:prstGeom prst="ellipse">
            <a:avLst/>
          </a:prstGeom>
          <a:solidFill>
            <a:srgbClr val="2E8BAB"/>
          </a:solidFill>
          <a:ln/>
        </p:spPr>
      </p:sp>
      <p:pic>
        <p:nvPicPr>
          <p:cNvPr id="17" name="Image 2" descr="preencoded.png">    </p:cNvPr>
          <p:cNvPicPr>
            <a:picLocks noChangeAspect="1"/>
          </p:cNvPicPr>
          <p:nvPr/>
        </p:nvPicPr>
        <p:blipFill>
          <a:blip r:embed="rId3"/>
          <a:stretch>
            <a:fillRect/>
          </a:stretch>
        </p:blipFill>
        <p:spPr>
          <a:xfrm>
            <a:off x="6391656" y="2286000"/>
            <a:ext cx="219456" cy="219456"/>
          </a:xfrm>
          <a:prstGeom prst="rect">
            <a:avLst/>
          </a:prstGeom>
        </p:spPr>
      </p:pic>
      <p:sp>
        <p:nvSpPr>
          <p:cNvPr id="18" name="Text 13"/>
          <p:cNvSpPr/>
          <p:nvPr/>
        </p:nvSpPr>
        <p:spPr>
          <a:xfrm>
            <a:off x="6821424" y="2148840"/>
            <a:ext cx="1746504" cy="457200"/>
          </a:xfrm>
          <a:prstGeom prst="rect">
            <a:avLst/>
          </a:prstGeom>
          <a:noFill/>
          <a:ln/>
        </p:spPr>
        <p:txBody>
          <a:bodyPr wrap="square" lIns="0" tIns="0" rIns="0" bIns="0" rtlCol="0" anchor="ctr"/>
          <a:lstStyle/>
          <a:p>
            <a:pPr indent="0" marL="0">
              <a:buNone/>
            </a:pPr>
            <a:r>
              <a:rPr lang="en-US" sz="1400" b="1" dirty="0">
                <a:solidFill>
                  <a:srgbClr val="0B1F33"/>
                </a:solidFill>
                <a:latin typeface="Cambria" pitchFamily="34" charset="0"/>
                <a:ea typeface="Cambria" pitchFamily="34" charset="-122"/>
                <a:cs typeface="Cambria" pitchFamily="34" charset="-120"/>
              </a:rPr>
              <a:t>DuckDB</a:t>
            </a:r>
            <a:endParaRPr lang="en-US" sz="1400" dirty="0"/>
          </a:p>
        </p:txBody>
      </p:sp>
      <p:sp>
        <p:nvSpPr>
          <p:cNvPr id="19" name="Text 14"/>
          <p:cNvSpPr/>
          <p:nvPr/>
        </p:nvSpPr>
        <p:spPr>
          <a:xfrm>
            <a:off x="6272784" y="2642616"/>
            <a:ext cx="2249424" cy="475488"/>
          </a:xfrm>
          <a:prstGeom prst="rect">
            <a:avLst/>
          </a:prstGeom>
          <a:noFill/>
          <a:ln/>
        </p:spPr>
        <p:txBody>
          <a:bodyPr wrap="square" lIns="0" tIns="0" rIns="0" bIns="0" rtlCol="0" anchor="ctr"/>
          <a:lstStyle/>
          <a:p>
            <a:pPr indent="0" marL="0">
              <a:lnSpc>
                <a:spcPct val="102000"/>
              </a:lnSpc>
              <a:buNone/>
            </a:pPr>
            <a:r>
              <a:rPr lang="en-US" sz="1030" dirty="0">
                <a:solidFill>
                  <a:srgbClr val="5A6B7B"/>
                </a:solidFill>
                <a:latin typeface="Calibri" pitchFamily="34" charset="0"/>
                <a:ea typeface="Calibri" pitchFamily="34" charset="-122"/>
                <a:cs typeface="Calibri" pitchFamily="34" charset="-120"/>
              </a:rPr>
              <a:t>OLAP-style analytics; connects to Parquet, Arrow, Pandas.</a:t>
            </a:r>
            <a:endParaRPr lang="en-US" sz="1030" dirty="0"/>
          </a:p>
        </p:txBody>
      </p:sp>
      <p:sp>
        <p:nvSpPr>
          <p:cNvPr id="20" name="Shape 15"/>
          <p:cNvSpPr/>
          <p:nvPr/>
        </p:nvSpPr>
        <p:spPr>
          <a:xfrm>
            <a:off x="548640" y="3300984"/>
            <a:ext cx="2615184" cy="1207008"/>
          </a:xfrm>
          <a:prstGeom prst="roundRect">
            <a:avLst>
              <a:gd name="adj" fmla="val 5303"/>
            </a:avLst>
          </a:prstGeom>
          <a:solidFill>
            <a:srgbClr val="FFFFFF"/>
          </a:solidFill>
          <a:ln/>
          <a:effectLst>
            <a:outerShdw sx="100000" sy="100000" kx="0" ky="0" algn="bl" rotWithShape="0" blurRad="88900" dist="38100" dir="5400000">
              <a:srgbClr val="0B1F33">
                <a:alpha val="13000"/>
              </a:srgbClr>
            </a:outerShdw>
          </a:effectLst>
        </p:spPr>
      </p:sp>
      <p:sp>
        <p:nvSpPr>
          <p:cNvPr id="21" name="Shape 16"/>
          <p:cNvSpPr/>
          <p:nvPr/>
        </p:nvSpPr>
        <p:spPr>
          <a:xfrm>
            <a:off x="749808" y="3502152"/>
            <a:ext cx="457200" cy="457200"/>
          </a:xfrm>
          <a:prstGeom prst="ellipse">
            <a:avLst/>
          </a:prstGeom>
          <a:solidFill>
            <a:srgbClr val="2E8BAB"/>
          </a:solidFill>
          <a:ln/>
        </p:spPr>
      </p:sp>
      <p:pic>
        <p:nvPicPr>
          <p:cNvPr id="22" name="Image 3" descr="preencoded.png">    </p:cNvPr>
          <p:cNvPicPr>
            <a:picLocks noChangeAspect="1"/>
          </p:cNvPicPr>
          <p:nvPr/>
        </p:nvPicPr>
        <p:blipFill>
          <a:blip r:embed="rId4"/>
          <a:stretch>
            <a:fillRect/>
          </a:stretch>
        </p:blipFill>
        <p:spPr>
          <a:xfrm>
            <a:off x="868680" y="3621024"/>
            <a:ext cx="219456" cy="219456"/>
          </a:xfrm>
          <a:prstGeom prst="rect">
            <a:avLst/>
          </a:prstGeom>
        </p:spPr>
      </p:pic>
      <p:sp>
        <p:nvSpPr>
          <p:cNvPr id="23" name="Text 17"/>
          <p:cNvSpPr/>
          <p:nvPr/>
        </p:nvSpPr>
        <p:spPr>
          <a:xfrm>
            <a:off x="1298448" y="3483864"/>
            <a:ext cx="1746504" cy="457200"/>
          </a:xfrm>
          <a:prstGeom prst="rect">
            <a:avLst/>
          </a:prstGeom>
          <a:noFill/>
          <a:ln/>
        </p:spPr>
        <p:txBody>
          <a:bodyPr wrap="square" lIns="0" tIns="0" rIns="0" bIns="0" rtlCol="0" anchor="ctr"/>
          <a:lstStyle/>
          <a:p>
            <a:pPr indent="0" marL="0">
              <a:buNone/>
            </a:pPr>
            <a:r>
              <a:rPr lang="en-US" sz="1400" b="1" dirty="0">
                <a:solidFill>
                  <a:srgbClr val="0B1F33"/>
                </a:solidFill>
                <a:latin typeface="Cambria" pitchFamily="34" charset="0"/>
                <a:ea typeface="Cambria" pitchFamily="34" charset="-122"/>
                <a:cs typeface="Cambria" pitchFamily="34" charset="-120"/>
              </a:rPr>
              <a:t>Remote / distributed</a:t>
            </a:r>
            <a:endParaRPr lang="en-US" sz="1400" dirty="0"/>
          </a:p>
        </p:txBody>
      </p:sp>
      <p:sp>
        <p:nvSpPr>
          <p:cNvPr id="24" name="Text 18"/>
          <p:cNvSpPr/>
          <p:nvPr/>
        </p:nvSpPr>
        <p:spPr>
          <a:xfrm>
            <a:off x="749808" y="3977640"/>
            <a:ext cx="2249424" cy="475488"/>
          </a:xfrm>
          <a:prstGeom prst="rect">
            <a:avLst/>
          </a:prstGeom>
          <a:noFill/>
          <a:ln/>
        </p:spPr>
        <p:txBody>
          <a:bodyPr wrap="square" lIns="0" tIns="0" rIns="0" bIns="0" rtlCol="0" anchor="ctr"/>
          <a:lstStyle/>
          <a:p>
            <a:pPr indent="0" marL="0">
              <a:lnSpc>
                <a:spcPct val="102000"/>
              </a:lnSpc>
              <a:buNone/>
            </a:pPr>
            <a:r>
              <a:rPr lang="en-US" sz="1030" dirty="0">
                <a:solidFill>
                  <a:srgbClr val="5A6B7B"/>
                </a:solidFill>
                <a:latin typeface="Calibri" pitchFamily="34" charset="0"/>
                <a:ea typeface="Calibri" pitchFamily="34" charset="-122"/>
                <a:cs typeface="Calibri" pitchFamily="34" charset="-120"/>
              </a:rPr>
              <a:t>remote_cmd runs queries on remote servers; pdsh fans out multi-site.</a:t>
            </a:r>
            <a:endParaRPr lang="en-US" sz="1030" dirty="0"/>
          </a:p>
        </p:txBody>
      </p:sp>
      <p:sp>
        <p:nvSpPr>
          <p:cNvPr id="25" name="Shape 19"/>
          <p:cNvSpPr/>
          <p:nvPr/>
        </p:nvSpPr>
        <p:spPr>
          <a:xfrm>
            <a:off x="3310128" y="3300984"/>
            <a:ext cx="2615184" cy="1207008"/>
          </a:xfrm>
          <a:prstGeom prst="roundRect">
            <a:avLst>
              <a:gd name="adj" fmla="val 5303"/>
            </a:avLst>
          </a:prstGeom>
          <a:solidFill>
            <a:srgbClr val="FFFFFF"/>
          </a:solidFill>
          <a:ln/>
          <a:effectLst>
            <a:outerShdw sx="100000" sy="100000" kx="0" ky="0" algn="bl" rotWithShape="0" blurRad="88900" dist="38100" dir="5400000">
              <a:srgbClr val="0B1F33">
                <a:alpha val="13000"/>
              </a:srgbClr>
            </a:outerShdw>
          </a:effectLst>
        </p:spPr>
      </p:sp>
      <p:sp>
        <p:nvSpPr>
          <p:cNvPr id="26" name="Shape 20"/>
          <p:cNvSpPr/>
          <p:nvPr/>
        </p:nvSpPr>
        <p:spPr>
          <a:xfrm>
            <a:off x="3511296" y="3502152"/>
            <a:ext cx="457200" cy="457200"/>
          </a:xfrm>
          <a:prstGeom prst="ellipse">
            <a:avLst/>
          </a:prstGeom>
          <a:solidFill>
            <a:srgbClr val="2E8BAB"/>
          </a:solidFill>
          <a:ln/>
        </p:spPr>
      </p:sp>
      <p:pic>
        <p:nvPicPr>
          <p:cNvPr id="27" name="Image 4" descr="preencoded.png">    </p:cNvPr>
          <p:cNvPicPr>
            <a:picLocks noChangeAspect="1"/>
          </p:cNvPicPr>
          <p:nvPr/>
        </p:nvPicPr>
        <p:blipFill>
          <a:blip r:embed="rId5"/>
          <a:stretch>
            <a:fillRect/>
          </a:stretch>
        </p:blipFill>
        <p:spPr>
          <a:xfrm>
            <a:off x="3630168" y="3621024"/>
            <a:ext cx="219456" cy="219456"/>
          </a:xfrm>
          <a:prstGeom prst="rect">
            <a:avLst/>
          </a:prstGeom>
        </p:spPr>
      </p:pic>
      <p:sp>
        <p:nvSpPr>
          <p:cNvPr id="28" name="Text 21"/>
          <p:cNvSpPr/>
          <p:nvPr/>
        </p:nvSpPr>
        <p:spPr>
          <a:xfrm>
            <a:off x="4059936" y="3483864"/>
            <a:ext cx="1746504" cy="457200"/>
          </a:xfrm>
          <a:prstGeom prst="rect">
            <a:avLst/>
          </a:prstGeom>
          <a:noFill/>
          <a:ln/>
        </p:spPr>
        <p:txBody>
          <a:bodyPr wrap="square" lIns="0" tIns="0" rIns="0" bIns="0" rtlCol="0" anchor="ctr"/>
          <a:lstStyle/>
          <a:p>
            <a:pPr indent="0" marL="0">
              <a:buNone/>
            </a:pPr>
            <a:r>
              <a:rPr lang="en-US" sz="1400" b="1" dirty="0">
                <a:solidFill>
                  <a:srgbClr val="0B1F33"/>
                </a:solidFill>
                <a:latin typeface="Cambria" pitchFamily="34" charset="0"/>
                <a:ea typeface="Cambria" pitchFamily="34" charset="-122"/>
                <a:cs typeface="Cambria" pitchFamily="34" charset="-120"/>
              </a:rPr>
              <a:t>REST</a:t>
            </a:r>
            <a:endParaRPr lang="en-US" sz="1400" dirty="0"/>
          </a:p>
        </p:txBody>
      </p:sp>
      <p:sp>
        <p:nvSpPr>
          <p:cNvPr id="29" name="Text 22"/>
          <p:cNvSpPr/>
          <p:nvPr/>
        </p:nvSpPr>
        <p:spPr>
          <a:xfrm>
            <a:off x="3511296" y="3977640"/>
            <a:ext cx="2249424" cy="475488"/>
          </a:xfrm>
          <a:prstGeom prst="rect">
            <a:avLst/>
          </a:prstGeom>
          <a:noFill/>
          <a:ln/>
        </p:spPr>
        <p:txBody>
          <a:bodyPr wrap="square" lIns="0" tIns="0" rIns="0" bIns="0" rtlCol="0" anchor="ctr"/>
          <a:lstStyle/>
          <a:p>
            <a:pPr indent="0" marL="0">
              <a:lnSpc>
                <a:spcPct val="102000"/>
              </a:lnSpc>
              <a:buNone/>
            </a:pPr>
            <a:r>
              <a:rPr lang="en-US" sz="1030" dirty="0">
                <a:solidFill>
                  <a:srgbClr val="5A6B7B"/>
                </a:solidFill>
                <a:latin typeface="Calibri" pitchFamily="34" charset="0"/>
                <a:ea typeface="Calibri" pitchFamily="34" charset="-122"/>
                <a:cs typeface="Calibri" pitchFamily="34" charset="-120"/>
              </a:rPr>
              <a:t>A contributed Django interface returns JSON for dashboards &amp; tools.</a:t>
            </a:r>
            <a:endParaRPr lang="en-US" sz="1030" dirty="0"/>
          </a:p>
        </p:txBody>
      </p:sp>
      <p:sp>
        <p:nvSpPr>
          <p:cNvPr id="30" name="Shape 23"/>
          <p:cNvSpPr/>
          <p:nvPr/>
        </p:nvSpPr>
        <p:spPr>
          <a:xfrm>
            <a:off x="6071616" y="3300984"/>
            <a:ext cx="2615184" cy="1207008"/>
          </a:xfrm>
          <a:prstGeom prst="roundRect">
            <a:avLst>
              <a:gd name="adj" fmla="val 5303"/>
            </a:avLst>
          </a:prstGeom>
          <a:solidFill>
            <a:srgbClr val="FFFFFF"/>
          </a:solidFill>
          <a:ln/>
          <a:effectLst>
            <a:outerShdw sx="100000" sy="100000" kx="0" ky="0" algn="bl" rotWithShape="0" blurRad="88900" dist="38100" dir="5400000">
              <a:srgbClr val="0B1F33">
                <a:alpha val="13000"/>
              </a:srgbClr>
            </a:outerShdw>
          </a:effectLst>
        </p:spPr>
      </p:sp>
      <p:sp>
        <p:nvSpPr>
          <p:cNvPr id="31" name="Shape 24"/>
          <p:cNvSpPr/>
          <p:nvPr/>
        </p:nvSpPr>
        <p:spPr>
          <a:xfrm>
            <a:off x="6272784" y="3502152"/>
            <a:ext cx="457200" cy="457200"/>
          </a:xfrm>
          <a:prstGeom prst="ellipse">
            <a:avLst/>
          </a:prstGeom>
          <a:solidFill>
            <a:srgbClr val="2E8BAB"/>
          </a:solidFill>
          <a:ln/>
        </p:spPr>
      </p:sp>
      <p:pic>
        <p:nvPicPr>
          <p:cNvPr id="32" name="Image 5" descr="preencoded.png">    </p:cNvPr>
          <p:cNvPicPr>
            <a:picLocks noChangeAspect="1"/>
          </p:cNvPicPr>
          <p:nvPr/>
        </p:nvPicPr>
        <p:blipFill>
          <a:blip r:embed="rId6"/>
          <a:stretch>
            <a:fillRect/>
          </a:stretch>
        </p:blipFill>
        <p:spPr>
          <a:xfrm>
            <a:off x="6391656" y="3621024"/>
            <a:ext cx="219456" cy="219456"/>
          </a:xfrm>
          <a:prstGeom prst="rect">
            <a:avLst/>
          </a:prstGeom>
        </p:spPr>
      </p:pic>
      <p:sp>
        <p:nvSpPr>
          <p:cNvPr id="33" name="Text 25"/>
          <p:cNvSpPr/>
          <p:nvPr/>
        </p:nvSpPr>
        <p:spPr>
          <a:xfrm>
            <a:off x="6821424" y="3483864"/>
            <a:ext cx="1746504" cy="457200"/>
          </a:xfrm>
          <a:prstGeom prst="rect">
            <a:avLst/>
          </a:prstGeom>
          <a:noFill/>
          <a:ln/>
        </p:spPr>
        <p:txBody>
          <a:bodyPr wrap="square" lIns="0" tIns="0" rIns="0" bIns="0" rtlCol="0" anchor="ctr"/>
          <a:lstStyle/>
          <a:p>
            <a:pPr indent="0" marL="0">
              <a:buNone/>
            </a:pPr>
            <a:r>
              <a:rPr lang="en-US" sz="1400" b="1" dirty="0">
                <a:solidFill>
                  <a:srgbClr val="0B1F33"/>
                </a:solidFill>
                <a:latin typeface="Cambria" pitchFamily="34" charset="0"/>
                <a:ea typeface="Cambria" pitchFamily="34" charset="-122"/>
                <a:cs typeface="Cambria" pitchFamily="34" charset="-120"/>
              </a:rPr>
              <a:t>MCP agents</a:t>
            </a:r>
            <a:endParaRPr lang="en-US" sz="1400" dirty="0"/>
          </a:p>
        </p:txBody>
      </p:sp>
      <p:sp>
        <p:nvSpPr>
          <p:cNvPr id="34" name="Text 26"/>
          <p:cNvSpPr/>
          <p:nvPr/>
        </p:nvSpPr>
        <p:spPr>
          <a:xfrm>
            <a:off x="6272784" y="3977640"/>
            <a:ext cx="2249424" cy="475488"/>
          </a:xfrm>
          <a:prstGeom prst="rect">
            <a:avLst/>
          </a:prstGeom>
          <a:noFill/>
          <a:ln/>
        </p:spPr>
        <p:txBody>
          <a:bodyPr wrap="square" lIns="0" tIns="0" rIns="0" bIns="0" rtlCol="0" anchor="ctr"/>
          <a:lstStyle/>
          <a:p>
            <a:pPr indent="0" marL="0">
              <a:lnSpc>
                <a:spcPct val="102000"/>
              </a:lnSpc>
              <a:buNone/>
            </a:pPr>
            <a:r>
              <a:rPr lang="en-US" sz="1030" dirty="0">
                <a:solidFill>
                  <a:srgbClr val="5A6B7B"/>
                </a:solidFill>
                <a:latin typeface="Calibri" pitchFamily="34" charset="0"/>
                <a:ea typeface="Calibri" pitchFamily="34" charset="-122"/>
                <a:cs typeface="Calibri" pitchFamily="34" charset="-120"/>
              </a:rPr>
              <a:t>Native, security-aware querying for AI agents.</a:t>
            </a:r>
            <a:endParaRPr lang="en-US" sz="10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300" kern="0" dirty="0">
                <a:solidFill>
                  <a:srgbClr val="2E8BAB"/>
                </a:solidFill>
                <a:latin typeface="Calibri" pitchFamily="34" charset="0"/>
                <a:ea typeface="Calibri" pitchFamily="34" charset="-122"/>
                <a:cs typeface="Calibri" pitchFamily="34" charset="-120"/>
              </a:rPr>
              <a:t>DEPLOYMENT &amp; OPERATIONS</a:t>
            </a:r>
            <a:endParaRPr lang="en-US" sz="1200" dirty="0"/>
          </a:p>
        </p:txBody>
      </p:sp>
      <p:sp>
        <p:nvSpPr>
          <p:cNvPr id="3" name="Text 1"/>
          <p:cNvSpPr/>
          <p:nvPr/>
        </p:nvSpPr>
        <p:spPr>
          <a:xfrm>
            <a:off x="548640" y="658368"/>
            <a:ext cx="8046720" cy="640080"/>
          </a:xfrm>
          <a:prstGeom prst="rect">
            <a:avLst/>
          </a:prstGeom>
          <a:noFill/>
          <a:ln/>
        </p:spPr>
        <p:txBody>
          <a:bodyPr wrap="square" lIns="0" tIns="0" rIns="0" bIns="0" rtlCol="0" anchor="ctr"/>
          <a:lstStyle/>
          <a:p>
            <a:pPr indent="0" marL="0">
              <a:buNone/>
            </a:pPr>
            <a:r>
              <a:rPr lang="en-US" sz="3000" b="1" dirty="0">
                <a:solidFill>
                  <a:srgbClr val="0B1F33"/>
                </a:solidFill>
                <a:latin typeface="Cambria" pitchFamily="34" charset="0"/>
                <a:ea typeface="Cambria" pitchFamily="34" charset="-122"/>
                <a:cs typeface="Cambria" pitchFamily="34" charset="-120"/>
              </a:rPr>
              <a:t>A hardened server, kept current incrementally</a:t>
            </a:r>
            <a:endParaRPr lang="en-US" sz="3000" dirty="0"/>
          </a:p>
        </p:txBody>
      </p:sp>
      <p:sp>
        <p:nvSpPr>
          <p:cNvPr id="4" name="Shape 2"/>
          <p:cNvSpPr/>
          <p:nvPr/>
        </p:nvSpPr>
        <p:spPr>
          <a:xfrm>
            <a:off x="548640" y="1417320"/>
            <a:ext cx="3977640" cy="3063240"/>
          </a:xfrm>
          <a:prstGeom prst="roundRect">
            <a:avLst>
              <a:gd name="adj" fmla="val 2388"/>
            </a:avLst>
          </a:prstGeom>
          <a:solidFill>
            <a:srgbClr val="FFFFFF"/>
          </a:solidFill>
          <a:ln/>
          <a:effectLst>
            <a:outerShdw sx="100000" sy="100000" kx="0" ky="0" algn="bl" rotWithShape="0" blurRad="88900" dist="38100" dir="5400000">
              <a:srgbClr val="0B1F33">
                <a:alpha val="13000"/>
              </a:srgbClr>
            </a:outerShdw>
          </a:effectLst>
        </p:spPr>
      </p:sp>
      <p:sp>
        <p:nvSpPr>
          <p:cNvPr id="5" name="Shape 3"/>
          <p:cNvSpPr/>
          <p:nvPr/>
        </p:nvSpPr>
        <p:spPr>
          <a:xfrm>
            <a:off x="777240" y="1645920"/>
            <a:ext cx="530352" cy="530352"/>
          </a:xfrm>
          <a:prstGeom prst="ellipse">
            <a:avLst/>
          </a:prstGeom>
          <a:solidFill>
            <a:srgbClr val="0B1F33"/>
          </a:solidFill>
          <a:ln/>
        </p:spPr>
      </p:sp>
      <p:pic>
        <p:nvPicPr>
          <p:cNvPr id="6" name="Image 0" descr="preencoded.png">    </p:cNvPr>
          <p:cNvPicPr>
            <a:picLocks noChangeAspect="1"/>
          </p:cNvPicPr>
          <p:nvPr/>
        </p:nvPicPr>
        <p:blipFill>
          <a:blip r:embed="rId1"/>
          <a:stretch>
            <a:fillRect/>
          </a:stretch>
        </p:blipFill>
        <p:spPr>
          <a:xfrm>
            <a:off x="915132" y="1783812"/>
            <a:ext cx="254569" cy="254569"/>
          </a:xfrm>
          <a:prstGeom prst="rect">
            <a:avLst/>
          </a:prstGeom>
        </p:spPr>
      </p:pic>
      <p:sp>
        <p:nvSpPr>
          <p:cNvPr id="7" name="Text 4"/>
          <p:cNvSpPr/>
          <p:nvPr/>
        </p:nvSpPr>
        <p:spPr>
          <a:xfrm>
            <a:off x="1444752" y="1645920"/>
            <a:ext cx="2971800" cy="457200"/>
          </a:xfrm>
          <a:prstGeom prst="rect">
            <a:avLst/>
          </a:prstGeom>
          <a:noFill/>
          <a:ln/>
        </p:spPr>
        <p:txBody>
          <a:bodyPr wrap="square" lIns="0" tIns="0" rIns="0" bIns="0" rtlCol="0" anchor="ctr"/>
          <a:lstStyle/>
          <a:p>
            <a:pPr indent="0" marL="0">
              <a:buNone/>
            </a:pPr>
            <a:r>
              <a:rPr lang="en-US" sz="1500" b="1" dirty="0">
                <a:solidFill>
                  <a:srgbClr val="0B1F33"/>
                </a:solidFill>
                <a:latin typeface="Cambria" pitchFamily="34" charset="0"/>
                <a:ea typeface="Cambria" pitchFamily="34" charset="-122"/>
                <a:cs typeface="Cambria" pitchFamily="34" charset="-120"/>
              </a:rPr>
              <a:t>Recommended architecture</a:t>
            </a:r>
            <a:endParaRPr lang="en-US" sz="1500" dirty="0"/>
          </a:p>
        </p:txBody>
      </p:sp>
      <p:sp>
        <p:nvSpPr>
          <p:cNvPr id="8" name="Text 5"/>
          <p:cNvSpPr/>
          <p:nvPr/>
        </p:nvSpPr>
        <p:spPr>
          <a:xfrm>
            <a:off x="841248" y="2286000"/>
            <a:ext cx="3566160" cy="2148840"/>
          </a:xfrm>
          <a:prstGeom prst="rect">
            <a:avLst/>
          </a:prstGeom>
          <a:noFill/>
          <a:ln/>
        </p:spPr>
        <p:txBody>
          <a:bodyPr wrap="square" lIns="0" tIns="0" rIns="0" bIns="0" rtlCol="0" anchor="ctr"/>
          <a:lstStyle/>
          <a:p>
            <a:pPr marL="177800" indent="-177800">
              <a:spcAft>
                <a:spcPts val="900"/>
              </a:spcAft>
              <a:buSzPct val="100000"/>
              <a:buChar char="•"/>
            </a:pPr>
            <a:r>
              <a:rPr lang="en-US" sz="1200" dirty="0">
                <a:solidFill>
                  <a:srgbClr val="1B2A38"/>
                </a:solidFill>
                <a:latin typeface="Calibri" pitchFamily="34" charset="0"/>
                <a:ea typeface="Calibri" pitchFamily="34" charset="-122"/>
                <a:cs typeface="Calibri" pitchFamily="34" charset="-120"/>
              </a:rPr>
              <a:t>Dedicated GUFI server holds the index trees and runs queries</a:t>
            </a:r>
            <a:endParaRPr lang="en-US" sz="1200" dirty="0"/>
          </a:p>
          <a:p>
            <a:pPr marL="177800" indent="-177800">
              <a:spcAft>
                <a:spcPts val="900"/>
              </a:spcAft>
              <a:buSzPct val="100000"/>
              <a:buChar char="•"/>
            </a:pPr>
            <a:r>
              <a:rPr lang="en-US" sz="1200" dirty="0">
                <a:solidFill>
                  <a:srgbClr val="1B2A38"/>
                </a:solidFill>
                <a:latin typeface="Calibri" pitchFamily="34" charset="0"/>
                <a:ea typeface="Calibri" pitchFamily="34" charset="-122"/>
                <a:cs typeface="Calibri" pitchFamily="34" charset="-120"/>
              </a:rPr>
              <a:t>Client nodes invoke wrappers — gufi_find, gufi_ls, gufi_du, gufi_stat — forwarded over SSH</a:t>
            </a:r>
            <a:endParaRPr lang="en-US" sz="1200" dirty="0"/>
          </a:p>
          <a:p>
            <a:pPr marL="177800" indent="-177800">
              <a:spcAft>
                <a:spcPts val="900"/>
              </a:spcAft>
              <a:buSzPct val="100000"/>
              <a:buChar char="•"/>
            </a:pPr>
            <a:r>
              <a:rPr lang="en-US" sz="1200" dirty="0">
                <a:solidFill>
                  <a:srgbClr val="1B2A38"/>
                </a:solidFill>
                <a:latin typeface="Calibri" pitchFamily="34" charset="0"/>
                <a:ea typeface="Calibri" pitchFamily="34" charset="-122"/>
                <a:cs typeface="Calibri" pitchFamily="34" charset="-120"/>
              </a:rPr>
              <a:t>Index mounted read-only for users to prevent corruption</a:t>
            </a:r>
            <a:endParaRPr lang="en-US" sz="1200" dirty="0"/>
          </a:p>
          <a:p>
            <a:pPr marL="177800" indent="-177800">
              <a:spcAft>
                <a:spcPts val="900"/>
              </a:spcAft>
              <a:buSzPct val="100000"/>
              <a:buChar char="•"/>
            </a:pPr>
            <a:r>
              <a:rPr lang="en-US" sz="1200" dirty="0">
                <a:solidFill>
                  <a:srgbClr val="1B2A38"/>
                </a:solidFill>
                <a:latin typeface="Calibri" pitchFamily="34" charset="0"/>
                <a:ea typeface="Calibri" pitchFamily="34" charset="-122"/>
                <a:cs typeface="Calibri" pitchFamily="34" charset="-120"/>
              </a:rPr>
              <a:t>gufi_jail + ForceCommand restrict SSH users to GUFI commands only</a:t>
            </a:r>
            <a:endParaRPr lang="en-US" sz="1200" dirty="0"/>
          </a:p>
        </p:txBody>
      </p:sp>
      <p:sp>
        <p:nvSpPr>
          <p:cNvPr id="9" name="Shape 6"/>
          <p:cNvSpPr/>
          <p:nvPr/>
        </p:nvSpPr>
        <p:spPr>
          <a:xfrm>
            <a:off x="4709160" y="1417320"/>
            <a:ext cx="3886200" cy="3063240"/>
          </a:xfrm>
          <a:prstGeom prst="roundRect">
            <a:avLst>
              <a:gd name="adj" fmla="val 2388"/>
            </a:avLst>
          </a:prstGeom>
          <a:solidFill>
            <a:srgbClr val="0B1F33"/>
          </a:solidFill>
          <a:ln/>
          <a:effectLst>
            <a:outerShdw sx="100000" sy="100000" kx="0" ky="0" algn="bl" rotWithShape="0" blurRad="88900" dist="38100" dir="5400000">
              <a:srgbClr val="0B1F33">
                <a:alpha val="13000"/>
              </a:srgbClr>
            </a:outerShdw>
          </a:effectLst>
        </p:spPr>
      </p:sp>
      <p:sp>
        <p:nvSpPr>
          <p:cNvPr id="10" name="Shape 7"/>
          <p:cNvSpPr/>
          <p:nvPr/>
        </p:nvSpPr>
        <p:spPr>
          <a:xfrm>
            <a:off x="4937760" y="1645920"/>
            <a:ext cx="530352" cy="530352"/>
          </a:xfrm>
          <a:prstGeom prst="ellipse">
            <a:avLst/>
          </a:prstGeom>
          <a:solidFill>
            <a:srgbClr val="1C7293"/>
          </a:solidFill>
          <a:ln/>
        </p:spPr>
      </p:sp>
      <p:pic>
        <p:nvPicPr>
          <p:cNvPr id="11" name="Image 1" descr="preencoded.png">    </p:cNvPr>
          <p:cNvPicPr>
            <a:picLocks noChangeAspect="1"/>
          </p:cNvPicPr>
          <p:nvPr/>
        </p:nvPicPr>
        <p:blipFill>
          <a:blip r:embed="rId2"/>
          <a:stretch>
            <a:fillRect/>
          </a:stretch>
        </p:blipFill>
        <p:spPr>
          <a:xfrm>
            <a:off x="5075652" y="1783812"/>
            <a:ext cx="254569" cy="254569"/>
          </a:xfrm>
          <a:prstGeom prst="rect">
            <a:avLst/>
          </a:prstGeom>
        </p:spPr>
      </p:pic>
      <p:sp>
        <p:nvSpPr>
          <p:cNvPr id="12" name="Text 8"/>
          <p:cNvSpPr/>
          <p:nvPr/>
        </p:nvSpPr>
        <p:spPr>
          <a:xfrm>
            <a:off x="5605272" y="1645920"/>
            <a:ext cx="28346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Incremental updates</a:t>
            </a:r>
            <a:endParaRPr lang="en-US" sz="1500" dirty="0"/>
          </a:p>
        </p:txBody>
      </p:sp>
      <p:sp>
        <p:nvSpPr>
          <p:cNvPr id="13" name="Text 9"/>
          <p:cNvSpPr/>
          <p:nvPr/>
        </p:nvSpPr>
        <p:spPr>
          <a:xfrm>
            <a:off x="4983480" y="2286000"/>
            <a:ext cx="3474720" cy="1143000"/>
          </a:xfrm>
          <a:prstGeom prst="rect">
            <a:avLst/>
          </a:prstGeom>
          <a:noFill/>
          <a:ln/>
        </p:spPr>
        <p:txBody>
          <a:bodyPr wrap="square" lIns="0" tIns="0" rIns="0" bIns="0" rtlCol="0" anchor="ctr"/>
          <a:lstStyle/>
          <a:p>
            <a:pPr indent="0" marL="0">
              <a:lnSpc>
                <a:spcPct val="105000"/>
              </a:lnSpc>
              <a:buNone/>
            </a:pPr>
            <a:r>
              <a:rPr lang="en-US" sz="1150" dirty="0">
                <a:solidFill>
                  <a:srgbClr val="C7D6E5"/>
                </a:solidFill>
                <a:latin typeface="Calibri" pitchFamily="34" charset="0"/>
                <a:ea typeface="Calibri" pitchFamily="34" charset="-122"/>
                <a:cs typeface="Calibri" pitchFamily="34" charset="-120"/>
              </a:rPr>
              <a:t>gufi_incremental_update refreshes only changed directories instead of re-indexing everything. It compares today's tree to the existing index with SQL outer joins, then applies structural changes and swaps updated databases.</a:t>
            </a:r>
            <a:endParaRPr lang="en-US" sz="1150" dirty="0"/>
          </a:p>
        </p:txBody>
      </p:sp>
      <p:sp>
        <p:nvSpPr>
          <p:cNvPr id="14" name="Text 10"/>
          <p:cNvSpPr/>
          <p:nvPr/>
        </p:nvSpPr>
        <p:spPr>
          <a:xfrm>
            <a:off x="4983480" y="3401568"/>
            <a:ext cx="3474720" cy="1051560"/>
          </a:xfrm>
          <a:prstGeom prst="rect">
            <a:avLst/>
          </a:prstGeom>
          <a:noFill/>
          <a:ln/>
        </p:spPr>
        <p:txBody>
          <a:bodyPr wrap="square" lIns="0" tIns="0" rIns="0" bIns="0" rtlCol="0" anchor="ctr"/>
          <a:lstStyle/>
          <a:p>
            <a:pPr indent="0" marL="0">
              <a:lnSpc>
                <a:spcPct val="105000"/>
              </a:lnSpc>
              <a:buNone/>
            </a:pPr>
            <a:r>
              <a:rPr lang="en-US" sz="1150" dirty="0">
                <a:solidFill>
                  <a:srgbClr val="C7D6E5"/>
                </a:solidFill>
                <a:latin typeface="Calibri" pitchFamily="34" charset="0"/>
                <a:ea typeface="Calibri" pitchFamily="34" charset="-122"/>
                <a:cs typeface="Calibri" pitchFamily="34" charset="-120"/>
              </a:rPr>
              <a:t>Change detection draws on a “suspect list” native to each filesystem — GPFS ILM scans, the Lustre changelog, zfs diff, TSM query backup — or a full mtime walk when no log exists.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300" kern="0" dirty="0">
                <a:solidFill>
                  <a:srgbClr val="2E8BAB"/>
                </a:solidFill>
                <a:latin typeface="Calibri" pitchFamily="34" charset="0"/>
                <a:ea typeface="Calibri" pitchFamily="34" charset="-122"/>
                <a:cs typeface="Calibri" pitchFamily="34" charset="-120"/>
              </a:rPr>
              <a:t>WEB TOOLKIT · webtk</a:t>
            </a:r>
            <a:endParaRPr lang="en-US" sz="1200" dirty="0"/>
          </a:p>
        </p:txBody>
      </p:sp>
      <p:sp>
        <p:nvSpPr>
          <p:cNvPr id="3" name="Text 1"/>
          <p:cNvSpPr/>
          <p:nvPr/>
        </p:nvSpPr>
        <p:spPr>
          <a:xfrm>
            <a:off x="548640" y="658368"/>
            <a:ext cx="8046720" cy="640080"/>
          </a:xfrm>
          <a:prstGeom prst="rect">
            <a:avLst/>
          </a:prstGeom>
          <a:noFill/>
          <a:ln/>
        </p:spPr>
        <p:txBody>
          <a:bodyPr wrap="square" lIns="0" tIns="0" rIns="0" bIns="0" rtlCol="0" anchor="ctr"/>
          <a:lstStyle/>
          <a:p>
            <a:pPr indent="0" marL="0">
              <a:buNone/>
            </a:pPr>
            <a:r>
              <a:rPr lang="en-US" sz="3000" b="1" dirty="0">
                <a:solidFill>
                  <a:srgbClr val="0B1F33"/>
                </a:solidFill>
                <a:latin typeface="Cambria" pitchFamily="34" charset="0"/>
                <a:ea typeface="Cambria" pitchFamily="34" charset="-122"/>
                <a:cs typeface="Cambria" pitchFamily="34" charset="-120"/>
              </a:rPr>
              <a:t>No-code query forms for end users</a:t>
            </a:r>
            <a:endParaRPr lang="en-US" sz="3000" dirty="0"/>
          </a:p>
        </p:txBody>
      </p:sp>
      <p:sp>
        <p:nvSpPr>
          <p:cNvPr id="4" name="Text 2"/>
          <p:cNvSpPr/>
          <p:nvPr/>
        </p:nvSpPr>
        <p:spPr>
          <a:xfrm>
            <a:off x="548640" y="1371600"/>
            <a:ext cx="8138160" cy="777240"/>
          </a:xfrm>
          <a:prstGeom prst="rect">
            <a:avLst/>
          </a:prstGeom>
          <a:noFill/>
          <a:ln/>
        </p:spPr>
        <p:txBody>
          <a:bodyPr wrap="square" lIns="0" tIns="0" rIns="0" bIns="0" rtlCol="0" anchor="ctr"/>
          <a:lstStyle/>
          <a:p>
            <a:pPr indent="0" marL="0">
              <a:lnSpc>
                <a:spcPct val="108000"/>
              </a:lnSpc>
              <a:buNone/>
            </a:pPr>
            <a:r>
              <a:rPr lang="en-US" sz="1350" dirty="0">
                <a:solidFill>
                  <a:srgbClr val="1B2A38"/>
                </a:solidFill>
                <a:latin typeface="Calibri" pitchFamily="34" charset="0"/>
                <a:ea typeface="Calibri" pitchFamily="34" charset="-122"/>
                <a:cs typeface="Calibri" pitchFamily="34" charset="-120"/>
              </a:rPr>
              <a:t>webtk turns hand-written gufi_query SQL into dynamically generated forms. Everything — forms, fields, queries, validation — is defined as rows in a single SQLite config database, so new query apps are added by inserting records, not writing code.</a:t>
            </a:r>
            <a:endParaRPr lang="en-US" sz="1350" dirty="0"/>
          </a:p>
        </p:txBody>
      </p:sp>
      <p:sp>
        <p:nvSpPr>
          <p:cNvPr id="5" name="Shape 3"/>
          <p:cNvSpPr/>
          <p:nvPr/>
        </p:nvSpPr>
        <p:spPr>
          <a:xfrm>
            <a:off x="548640" y="2240280"/>
            <a:ext cx="3950208" cy="1097280"/>
          </a:xfrm>
          <a:prstGeom prst="roundRect">
            <a:avLst>
              <a:gd name="adj" fmla="val 5833"/>
            </a:avLst>
          </a:prstGeom>
          <a:solidFill>
            <a:srgbClr val="FFFFFF"/>
          </a:solidFill>
          <a:ln/>
          <a:effectLst>
            <a:outerShdw sx="100000" sy="100000" kx="0" ky="0" algn="bl" rotWithShape="0" blurRad="88900" dist="38100" dir="5400000">
              <a:srgbClr val="0B1F33">
                <a:alpha val="13000"/>
              </a:srgbClr>
            </a:outerShdw>
          </a:effectLst>
        </p:spPr>
      </p:sp>
      <p:sp>
        <p:nvSpPr>
          <p:cNvPr id="6" name="Shape 4"/>
          <p:cNvSpPr/>
          <p:nvPr/>
        </p:nvSpPr>
        <p:spPr>
          <a:xfrm>
            <a:off x="749808" y="2514600"/>
            <a:ext cx="512064" cy="512064"/>
          </a:xfrm>
          <a:prstGeom prst="ellipse">
            <a:avLst/>
          </a:prstGeom>
          <a:solidFill>
            <a:srgbClr val="2E8BAB"/>
          </a:solidFill>
          <a:ln/>
        </p:spPr>
      </p:sp>
      <p:pic>
        <p:nvPicPr>
          <p:cNvPr id="7" name="Image 0" descr="preencoded.png">    </p:cNvPr>
          <p:cNvPicPr>
            <a:picLocks noChangeAspect="1"/>
          </p:cNvPicPr>
          <p:nvPr/>
        </p:nvPicPr>
        <p:blipFill>
          <a:blip r:embed="rId1"/>
          <a:stretch>
            <a:fillRect/>
          </a:stretch>
        </p:blipFill>
        <p:spPr>
          <a:xfrm>
            <a:off x="882945" y="2647737"/>
            <a:ext cx="245791" cy="245791"/>
          </a:xfrm>
          <a:prstGeom prst="rect">
            <a:avLst/>
          </a:prstGeom>
        </p:spPr>
      </p:pic>
      <p:sp>
        <p:nvSpPr>
          <p:cNvPr id="8" name="Text 5"/>
          <p:cNvSpPr/>
          <p:nvPr/>
        </p:nvSpPr>
        <p:spPr>
          <a:xfrm>
            <a:off x="1417320" y="2377440"/>
            <a:ext cx="2944368" cy="310896"/>
          </a:xfrm>
          <a:prstGeom prst="rect">
            <a:avLst/>
          </a:prstGeom>
          <a:noFill/>
          <a:ln/>
        </p:spPr>
        <p:txBody>
          <a:bodyPr wrap="square" lIns="0" tIns="0" rIns="0" bIns="0" rtlCol="0" anchor="ctr"/>
          <a:lstStyle/>
          <a:p>
            <a:pPr indent="0" marL="0">
              <a:buNone/>
            </a:pPr>
            <a:r>
              <a:rPr lang="en-US" sz="1350" b="1" dirty="0">
                <a:solidFill>
                  <a:srgbClr val="0B1F33"/>
                </a:solidFill>
                <a:latin typeface="Cambria" pitchFamily="34" charset="0"/>
                <a:ea typeface="Cambria" pitchFamily="34" charset="-122"/>
                <a:cs typeface="Cambria" pitchFamily="34" charset="-120"/>
              </a:rPr>
              <a:t>Two front-ends, one config</a:t>
            </a:r>
            <a:endParaRPr lang="en-US" sz="1350" dirty="0"/>
          </a:p>
        </p:txBody>
      </p:sp>
      <p:sp>
        <p:nvSpPr>
          <p:cNvPr id="9" name="Text 6"/>
          <p:cNvSpPr/>
          <p:nvPr/>
        </p:nvSpPr>
        <p:spPr>
          <a:xfrm>
            <a:off x="1417320" y="2670048"/>
            <a:ext cx="2926080" cy="603504"/>
          </a:xfrm>
          <a:prstGeom prst="rect">
            <a:avLst/>
          </a:prstGeom>
          <a:noFill/>
          <a:ln/>
        </p:spPr>
        <p:txBody>
          <a:bodyPr wrap="square" lIns="0" tIns="0" rIns="0" bIns="0" rtlCol="0" anchor="ctr"/>
          <a:lstStyle/>
          <a:p>
            <a:pPr indent="0" marL="0">
              <a:lnSpc>
                <a:spcPct val="102000"/>
              </a:lnSpc>
              <a:buNone/>
            </a:pPr>
            <a:r>
              <a:rPr lang="en-US" sz="1050" dirty="0">
                <a:solidFill>
                  <a:srgbClr val="5A6B7B"/>
                </a:solidFill>
                <a:latin typeface="Calibri" pitchFamily="34" charset="0"/>
                <a:ea typeface="Calibri" pitchFamily="34" charset="-122"/>
                <a:cs typeface="Calibri" pitchFamily="34" charset="-120"/>
              </a:rPr>
              <a:t>A Bottle web server for shared multi-user access, or a Tkinter desktop GUI — both driven from the same database, no code changes.</a:t>
            </a:r>
            <a:endParaRPr lang="en-US" sz="1050" dirty="0"/>
          </a:p>
        </p:txBody>
      </p:sp>
      <p:sp>
        <p:nvSpPr>
          <p:cNvPr id="10" name="Shape 7"/>
          <p:cNvSpPr/>
          <p:nvPr/>
        </p:nvSpPr>
        <p:spPr>
          <a:xfrm>
            <a:off x="4645152" y="2240280"/>
            <a:ext cx="3950208" cy="1097280"/>
          </a:xfrm>
          <a:prstGeom prst="roundRect">
            <a:avLst>
              <a:gd name="adj" fmla="val 5833"/>
            </a:avLst>
          </a:prstGeom>
          <a:solidFill>
            <a:srgbClr val="FFFFFF"/>
          </a:solidFill>
          <a:ln/>
          <a:effectLst>
            <a:outerShdw sx="100000" sy="100000" kx="0" ky="0" algn="bl" rotWithShape="0" blurRad="88900" dist="38100" dir="5400000">
              <a:srgbClr val="0B1F33">
                <a:alpha val="13000"/>
              </a:srgbClr>
            </a:outerShdw>
          </a:effectLst>
        </p:spPr>
      </p:sp>
      <p:sp>
        <p:nvSpPr>
          <p:cNvPr id="11" name="Shape 8"/>
          <p:cNvSpPr/>
          <p:nvPr/>
        </p:nvSpPr>
        <p:spPr>
          <a:xfrm>
            <a:off x="4846320" y="2514600"/>
            <a:ext cx="512064" cy="512064"/>
          </a:xfrm>
          <a:prstGeom prst="ellipse">
            <a:avLst/>
          </a:prstGeom>
          <a:solidFill>
            <a:srgbClr val="2E8BAB"/>
          </a:solidFill>
          <a:ln/>
        </p:spPr>
      </p:sp>
      <p:pic>
        <p:nvPicPr>
          <p:cNvPr id="12" name="Image 1" descr="preencoded.png">    </p:cNvPr>
          <p:cNvPicPr>
            <a:picLocks noChangeAspect="1"/>
          </p:cNvPicPr>
          <p:nvPr/>
        </p:nvPicPr>
        <p:blipFill>
          <a:blip r:embed="rId2"/>
          <a:stretch>
            <a:fillRect/>
          </a:stretch>
        </p:blipFill>
        <p:spPr>
          <a:xfrm>
            <a:off x="4979457" y="2647737"/>
            <a:ext cx="245791" cy="245791"/>
          </a:xfrm>
          <a:prstGeom prst="rect">
            <a:avLst/>
          </a:prstGeom>
        </p:spPr>
      </p:pic>
      <p:sp>
        <p:nvSpPr>
          <p:cNvPr id="13" name="Text 9"/>
          <p:cNvSpPr/>
          <p:nvPr/>
        </p:nvSpPr>
        <p:spPr>
          <a:xfrm>
            <a:off x="5513832" y="2377440"/>
            <a:ext cx="2944368" cy="310896"/>
          </a:xfrm>
          <a:prstGeom prst="rect">
            <a:avLst/>
          </a:prstGeom>
          <a:noFill/>
          <a:ln/>
        </p:spPr>
        <p:txBody>
          <a:bodyPr wrap="square" lIns="0" tIns="0" rIns="0" bIns="0" rtlCol="0" anchor="ctr"/>
          <a:lstStyle/>
          <a:p>
            <a:pPr indent="0" marL="0">
              <a:buNone/>
            </a:pPr>
            <a:r>
              <a:rPr lang="en-US" sz="1350" b="1" dirty="0">
                <a:solidFill>
                  <a:srgbClr val="0B1F33"/>
                </a:solidFill>
                <a:latin typeface="Cambria" pitchFamily="34" charset="0"/>
                <a:ea typeface="Cambria" pitchFamily="34" charset="-122"/>
                <a:cs typeface="Cambria" pitchFamily="34" charset="-120"/>
              </a:rPr>
              <a:t>Table-driven builder</a:t>
            </a:r>
            <a:endParaRPr lang="en-US" sz="1350" dirty="0"/>
          </a:p>
        </p:txBody>
      </p:sp>
      <p:sp>
        <p:nvSpPr>
          <p:cNvPr id="14" name="Text 10"/>
          <p:cNvSpPr/>
          <p:nvPr/>
        </p:nvSpPr>
        <p:spPr>
          <a:xfrm>
            <a:off x="5513832" y="2670048"/>
            <a:ext cx="2926080" cy="603504"/>
          </a:xfrm>
          <a:prstGeom prst="rect">
            <a:avLst/>
          </a:prstGeom>
          <a:noFill/>
          <a:ln/>
        </p:spPr>
        <p:txBody>
          <a:bodyPr wrap="square" lIns="0" tIns="0" rIns="0" bIns="0" rtlCol="0" anchor="ctr"/>
          <a:lstStyle/>
          <a:p>
            <a:pPr indent="0" marL="0">
              <a:lnSpc>
                <a:spcPct val="102000"/>
              </a:lnSpc>
              <a:buNone/>
            </a:pPr>
            <a:r>
              <a:rPr lang="en-US" sz="1050" dirty="0">
                <a:solidFill>
                  <a:srgbClr val="5A6B7B"/>
                </a:solidFill>
                <a:latin typeface="Calibri" pitchFamily="34" charset="0"/>
                <a:ea typeface="Calibri" pitchFamily="34" charset="-122"/>
                <a:cs typeface="Calibri" pitchFamily="34" charset="-120"/>
              </a:rPr>
              <a:t>Eight tables define apps, forms, query chains and validation. Auto-generated {} variables assemble the final gufi_vt query.</a:t>
            </a:r>
            <a:endParaRPr lang="en-US" sz="1050" dirty="0"/>
          </a:p>
        </p:txBody>
      </p:sp>
      <p:sp>
        <p:nvSpPr>
          <p:cNvPr id="15" name="Shape 11"/>
          <p:cNvSpPr/>
          <p:nvPr/>
        </p:nvSpPr>
        <p:spPr>
          <a:xfrm>
            <a:off x="548640" y="3483864"/>
            <a:ext cx="3950208" cy="1097280"/>
          </a:xfrm>
          <a:prstGeom prst="roundRect">
            <a:avLst>
              <a:gd name="adj" fmla="val 5833"/>
            </a:avLst>
          </a:prstGeom>
          <a:solidFill>
            <a:srgbClr val="FFFFFF"/>
          </a:solidFill>
          <a:ln/>
          <a:effectLst>
            <a:outerShdw sx="100000" sy="100000" kx="0" ky="0" algn="bl" rotWithShape="0" blurRad="88900" dist="38100" dir="5400000">
              <a:srgbClr val="0B1F33">
                <a:alpha val="13000"/>
              </a:srgbClr>
            </a:outerShdw>
          </a:effectLst>
        </p:spPr>
      </p:sp>
      <p:sp>
        <p:nvSpPr>
          <p:cNvPr id="16" name="Shape 12"/>
          <p:cNvSpPr/>
          <p:nvPr/>
        </p:nvSpPr>
        <p:spPr>
          <a:xfrm>
            <a:off x="749808" y="3758184"/>
            <a:ext cx="512064" cy="512064"/>
          </a:xfrm>
          <a:prstGeom prst="ellipse">
            <a:avLst/>
          </a:prstGeom>
          <a:solidFill>
            <a:srgbClr val="2E8BAB"/>
          </a:solidFill>
          <a:ln/>
        </p:spPr>
      </p:sp>
      <p:pic>
        <p:nvPicPr>
          <p:cNvPr id="17" name="Image 2" descr="preencoded.png">    </p:cNvPr>
          <p:cNvPicPr>
            <a:picLocks noChangeAspect="1"/>
          </p:cNvPicPr>
          <p:nvPr/>
        </p:nvPicPr>
        <p:blipFill>
          <a:blip r:embed="rId3"/>
          <a:stretch>
            <a:fillRect/>
          </a:stretch>
        </p:blipFill>
        <p:spPr>
          <a:xfrm>
            <a:off x="882945" y="3891321"/>
            <a:ext cx="245791" cy="245791"/>
          </a:xfrm>
          <a:prstGeom prst="rect">
            <a:avLst/>
          </a:prstGeom>
        </p:spPr>
      </p:pic>
      <p:sp>
        <p:nvSpPr>
          <p:cNvPr id="18" name="Text 13"/>
          <p:cNvSpPr/>
          <p:nvPr/>
        </p:nvSpPr>
        <p:spPr>
          <a:xfrm>
            <a:off x="1417320" y="3621024"/>
            <a:ext cx="2944368" cy="310896"/>
          </a:xfrm>
          <a:prstGeom prst="rect">
            <a:avLst/>
          </a:prstGeom>
          <a:noFill/>
          <a:ln/>
        </p:spPr>
        <p:txBody>
          <a:bodyPr wrap="square" lIns="0" tIns="0" rIns="0" bIns="0" rtlCol="0" anchor="ctr"/>
          <a:lstStyle/>
          <a:p>
            <a:pPr indent="0" marL="0">
              <a:buNone/>
            </a:pPr>
            <a:r>
              <a:rPr lang="en-US" sz="1350" b="1" dirty="0">
                <a:solidFill>
                  <a:srgbClr val="0B1F33"/>
                </a:solidFill>
                <a:latin typeface="Cambria" pitchFamily="34" charset="0"/>
                <a:ea typeface="Cambria" pitchFamily="34" charset="-122"/>
                <a:cs typeface="Cambria" pitchFamily="34" charset="-120"/>
              </a:rPr>
              <a:t>Built-in safety</a:t>
            </a:r>
            <a:endParaRPr lang="en-US" sz="1350" dirty="0"/>
          </a:p>
        </p:txBody>
      </p:sp>
      <p:sp>
        <p:nvSpPr>
          <p:cNvPr id="19" name="Text 14"/>
          <p:cNvSpPr/>
          <p:nvPr/>
        </p:nvSpPr>
        <p:spPr>
          <a:xfrm>
            <a:off x="1417320" y="3913632"/>
            <a:ext cx="2926080" cy="603504"/>
          </a:xfrm>
          <a:prstGeom prst="rect">
            <a:avLst/>
          </a:prstGeom>
          <a:noFill/>
          <a:ln/>
        </p:spPr>
        <p:txBody>
          <a:bodyPr wrap="square" lIns="0" tIns="0" rIns="0" bIns="0" rtlCol="0" anchor="ctr"/>
          <a:lstStyle/>
          <a:p>
            <a:pPr indent="0" marL="0">
              <a:lnSpc>
                <a:spcPct val="102000"/>
              </a:lnSpc>
              <a:buNone/>
            </a:pPr>
            <a:r>
              <a:rPr lang="en-US" sz="1050" dirty="0">
                <a:solidFill>
                  <a:srgbClr val="5A6B7B"/>
                </a:solidFill>
                <a:latin typeface="Calibri" pitchFamily="34" charset="0"/>
                <a:ea typeface="Calibri" pitchFamily="34" charset="-122"/>
                <a:cs typeface="Calibri" pitchFamily="34" charset="-120"/>
              </a:rPr>
              <a:t>analyze.py sanity-checks an app's configuration — flagging WARNING through FATAL issues — before it ever runs.</a:t>
            </a:r>
            <a:endParaRPr lang="en-US" sz="1050" dirty="0"/>
          </a:p>
        </p:txBody>
      </p:sp>
      <p:sp>
        <p:nvSpPr>
          <p:cNvPr id="20" name="Shape 15"/>
          <p:cNvSpPr/>
          <p:nvPr/>
        </p:nvSpPr>
        <p:spPr>
          <a:xfrm>
            <a:off x="4645152" y="3483864"/>
            <a:ext cx="3950208" cy="1097280"/>
          </a:xfrm>
          <a:prstGeom prst="roundRect">
            <a:avLst>
              <a:gd name="adj" fmla="val 5833"/>
            </a:avLst>
          </a:prstGeom>
          <a:solidFill>
            <a:srgbClr val="FFFFFF"/>
          </a:solidFill>
          <a:ln/>
          <a:effectLst>
            <a:outerShdw sx="100000" sy="100000" kx="0" ky="0" algn="bl" rotWithShape="0" blurRad="88900" dist="38100" dir="5400000">
              <a:srgbClr val="0B1F33">
                <a:alpha val="13000"/>
              </a:srgbClr>
            </a:outerShdw>
          </a:effectLst>
        </p:spPr>
      </p:sp>
      <p:sp>
        <p:nvSpPr>
          <p:cNvPr id="21" name="Shape 16"/>
          <p:cNvSpPr/>
          <p:nvPr/>
        </p:nvSpPr>
        <p:spPr>
          <a:xfrm>
            <a:off x="4846320" y="3758184"/>
            <a:ext cx="512064" cy="512064"/>
          </a:xfrm>
          <a:prstGeom prst="ellipse">
            <a:avLst/>
          </a:prstGeom>
          <a:solidFill>
            <a:srgbClr val="2E8BAB"/>
          </a:solidFill>
          <a:ln/>
        </p:spPr>
      </p:sp>
      <p:pic>
        <p:nvPicPr>
          <p:cNvPr id="22" name="Image 3" descr="preencoded.png">    </p:cNvPr>
          <p:cNvPicPr>
            <a:picLocks noChangeAspect="1"/>
          </p:cNvPicPr>
          <p:nvPr/>
        </p:nvPicPr>
        <p:blipFill>
          <a:blip r:embed="rId4"/>
          <a:stretch>
            <a:fillRect/>
          </a:stretch>
        </p:blipFill>
        <p:spPr>
          <a:xfrm>
            <a:off x="4979457" y="3891321"/>
            <a:ext cx="245791" cy="245791"/>
          </a:xfrm>
          <a:prstGeom prst="rect">
            <a:avLst/>
          </a:prstGeom>
        </p:spPr>
      </p:pic>
      <p:sp>
        <p:nvSpPr>
          <p:cNvPr id="23" name="Text 17"/>
          <p:cNvSpPr/>
          <p:nvPr/>
        </p:nvSpPr>
        <p:spPr>
          <a:xfrm>
            <a:off x="5513832" y="3621024"/>
            <a:ext cx="2944368" cy="310896"/>
          </a:xfrm>
          <a:prstGeom prst="rect">
            <a:avLst/>
          </a:prstGeom>
          <a:noFill/>
          <a:ln/>
        </p:spPr>
        <p:txBody>
          <a:bodyPr wrap="square" lIns="0" tIns="0" rIns="0" bIns="0" rtlCol="0" anchor="ctr"/>
          <a:lstStyle/>
          <a:p>
            <a:pPr indent="0" marL="0">
              <a:buNone/>
            </a:pPr>
            <a:r>
              <a:rPr lang="en-US" sz="1350" b="1" dirty="0">
                <a:solidFill>
                  <a:srgbClr val="0B1F33"/>
                </a:solidFill>
                <a:latin typeface="Cambria" pitchFamily="34" charset="0"/>
                <a:ea typeface="Cambria" pitchFamily="34" charset="-122"/>
                <a:cs typeface="Cambria" pitchFamily="34" charset="-120"/>
              </a:rPr>
              <a:t>CSV &amp; clickable output</a:t>
            </a:r>
            <a:endParaRPr lang="en-US" sz="1350" dirty="0"/>
          </a:p>
        </p:txBody>
      </p:sp>
      <p:sp>
        <p:nvSpPr>
          <p:cNvPr id="24" name="Text 18"/>
          <p:cNvSpPr/>
          <p:nvPr/>
        </p:nvSpPr>
        <p:spPr>
          <a:xfrm>
            <a:off x="5513832" y="3913632"/>
            <a:ext cx="2926080" cy="603504"/>
          </a:xfrm>
          <a:prstGeom prst="rect">
            <a:avLst/>
          </a:prstGeom>
          <a:noFill/>
          <a:ln/>
        </p:spPr>
        <p:txBody>
          <a:bodyPr wrap="square" lIns="0" tIns="0" rIns="0" bIns="0" rtlCol="0" anchor="ctr"/>
          <a:lstStyle/>
          <a:p>
            <a:pPr indent="0" marL="0">
              <a:lnSpc>
                <a:spcPct val="102000"/>
              </a:lnSpc>
              <a:buNone/>
            </a:pPr>
            <a:r>
              <a:rPr lang="en-US" sz="1050" dirty="0">
                <a:solidFill>
                  <a:srgbClr val="5A6B7B"/>
                </a:solidFill>
                <a:latin typeface="Calibri" pitchFamily="34" charset="0"/>
                <a:ea typeface="Calibri" pitchFamily="34" charset="-122"/>
                <a:cs typeface="Calibri" pitchFamily="34" charset="-120"/>
              </a:rPr>
              <a:t>Results export to CSV; srcurl() emits clickable links straight to the source files.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F5A623"/>
          </a:solidFill>
          <a:ln/>
        </p:spPr>
      </p:sp>
      <p:pic>
        <p:nvPicPr>
          <p:cNvPr id="3" name="Image 0" descr="preencoded.png">    </p:cNvPr>
          <p:cNvPicPr>
            <a:picLocks noChangeAspect="1"/>
          </p:cNvPicPr>
          <p:nvPr/>
        </p:nvPicPr>
        <p:blipFill>
          <a:blip r:embed="rId1"/>
          <a:stretch>
            <a:fillRect/>
          </a:stretch>
        </p:blipFill>
        <p:spPr>
          <a:xfrm>
            <a:off x="734080" y="688360"/>
            <a:ext cx="342351" cy="342351"/>
          </a:xfrm>
          <a:prstGeom prst="rect">
            <a:avLst/>
          </a:prstGeom>
        </p:spPr>
      </p:pic>
      <p:sp>
        <p:nvSpPr>
          <p:cNvPr id="4" name="Text 1"/>
          <p:cNvSpPr/>
          <p:nvPr/>
        </p:nvSpPr>
        <p:spPr>
          <a:xfrm>
            <a:off x="1417320" y="548640"/>
            <a:ext cx="7315200" cy="274320"/>
          </a:xfrm>
          <a:prstGeom prst="rect">
            <a:avLst/>
          </a:prstGeom>
          <a:noFill/>
          <a:ln/>
        </p:spPr>
        <p:txBody>
          <a:bodyPr wrap="square" lIns="0" tIns="0" rIns="0" bIns="0" rtlCol="0" anchor="ctr"/>
          <a:lstStyle/>
          <a:p>
            <a:pPr indent="0" marL="0">
              <a:buNone/>
            </a:pPr>
            <a:r>
              <a:rPr lang="en-US" sz="1200" b="1" spc="300" kern="0" dirty="0">
                <a:solidFill>
                  <a:srgbClr val="2E8BAB"/>
                </a:solidFill>
                <a:latin typeface="Calibri" pitchFamily="34" charset="0"/>
                <a:ea typeface="Calibri" pitchFamily="34" charset="-122"/>
                <a:cs typeface="Calibri" pitchFamily="34" charset="-120"/>
              </a:rPr>
              <a:t>THE TAKEAWAY</a:t>
            </a:r>
            <a:endParaRPr lang="en-US" sz="1200" dirty="0"/>
          </a:p>
        </p:txBody>
      </p:sp>
      <p:sp>
        <p:nvSpPr>
          <p:cNvPr id="5" name="Text 2"/>
          <p:cNvSpPr/>
          <p:nvPr/>
        </p:nvSpPr>
        <p:spPr>
          <a:xfrm>
            <a:off x="1417320" y="822960"/>
            <a:ext cx="7498080" cy="64008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From backup target to computable, governed substrate</a:t>
            </a:r>
            <a:endParaRPr lang="en-US" sz="2500" dirty="0"/>
          </a:p>
        </p:txBody>
      </p:sp>
      <p:sp>
        <p:nvSpPr>
          <p:cNvPr id="6" name="Shape 3"/>
          <p:cNvSpPr/>
          <p:nvPr/>
        </p:nvSpPr>
        <p:spPr>
          <a:xfrm>
            <a:off x="548640" y="1783080"/>
            <a:ext cx="3950208" cy="1325880"/>
          </a:xfrm>
          <a:prstGeom prst="roundRect">
            <a:avLst>
              <a:gd name="adj" fmla="val 5517"/>
            </a:avLst>
          </a:prstGeom>
          <a:solidFill>
            <a:srgbClr val="12304D"/>
          </a:solidFill>
          <a:ln/>
          <a:effectLst>
            <a:outerShdw sx="100000" sy="100000" kx="0" ky="0" algn="bl" rotWithShape="0" blurRad="88900" dist="38100" dir="5400000">
              <a:srgbClr val="0B1F33">
                <a:alpha val="13000"/>
              </a:srgbClr>
            </a:outerShdw>
          </a:effectLst>
        </p:spPr>
      </p:sp>
      <p:sp>
        <p:nvSpPr>
          <p:cNvPr id="7" name="Shape 4"/>
          <p:cNvSpPr/>
          <p:nvPr/>
        </p:nvSpPr>
        <p:spPr>
          <a:xfrm>
            <a:off x="768096" y="2020824"/>
            <a:ext cx="548640" cy="548640"/>
          </a:xfrm>
          <a:prstGeom prst="ellipse">
            <a:avLst/>
          </a:prstGeom>
          <a:solidFill>
            <a:srgbClr val="2E8BAB"/>
          </a:solidFill>
          <a:ln/>
        </p:spPr>
      </p:sp>
      <p:pic>
        <p:nvPicPr>
          <p:cNvPr id="8" name="Image 1" descr="preencoded.png">    </p:cNvPr>
          <p:cNvPicPr>
            <a:picLocks noChangeAspect="1"/>
          </p:cNvPicPr>
          <p:nvPr/>
        </p:nvPicPr>
        <p:blipFill>
          <a:blip r:embed="rId2"/>
          <a:stretch>
            <a:fillRect/>
          </a:stretch>
        </p:blipFill>
        <p:spPr>
          <a:xfrm>
            <a:off x="910742" y="2163470"/>
            <a:ext cx="263347" cy="263347"/>
          </a:xfrm>
          <a:prstGeom prst="rect">
            <a:avLst/>
          </a:prstGeom>
        </p:spPr>
      </p:pic>
      <p:sp>
        <p:nvSpPr>
          <p:cNvPr id="9" name="Text 5"/>
          <p:cNvSpPr/>
          <p:nvPr/>
        </p:nvSpPr>
        <p:spPr>
          <a:xfrm>
            <a:off x="1463040" y="1984248"/>
            <a:ext cx="2898648" cy="365760"/>
          </a:xfrm>
          <a:prstGeom prst="rect">
            <a:avLst/>
          </a:prstGeom>
          <a:noFill/>
          <a:ln/>
        </p:spPr>
        <p:txBody>
          <a:bodyPr wrap="square" lIns="0" tIns="0" rIns="0" bIns="0" rtlCol="0" anchor="ctr"/>
          <a:lstStyle/>
          <a:p>
            <a:pPr indent="0" marL="0">
              <a:buNone/>
            </a:pPr>
            <a:r>
              <a:rPr lang="en-US" sz="1600" b="1" dirty="0">
                <a:solidFill>
                  <a:srgbClr val="F5A623"/>
                </a:solidFill>
                <a:latin typeface="Cambria" pitchFamily="34" charset="0"/>
                <a:ea typeface="Cambria" pitchFamily="34" charset="-122"/>
                <a:cs typeface="Cambria" pitchFamily="34" charset="-120"/>
              </a:rPr>
              <a:t>Scale</a:t>
            </a:r>
            <a:endParaRPr lang="en-US" sz="1600" dirty="0"/>
          </a:p>
        </p:txBody>
      </p:sp>
      <p:sp>
        <p:nvSpPr>
          <p:cNvPr id="10" name="Text 6"/>
          <p:cNvSpPr/>
          <p:nvPr/>
        </p:nvSpPr>
        <p:spPr>
          <a:xfrm>
            <a:off x="1463040" y="2368296"/>
            <a:ext cx="2871216" cy="658368"/>
          </a:xfrm>
          <a:prstGeom prst="rect">
            <a:avLst/>
          </a:prstGeom>
          <a:noFill/>
          <a:ln/>
        </p:spPr>
        <p:txBody>
          <a:bodyPr wrap="square" lIns="0" tIns="0" rIns="0" bIns="0" rtlCol="0" anchor="ctr"/>
          <a:lstStyle/>
          <a:p>
            <a:pPr indent="0" marL="0">
              <a:lnSpc>
                <a:spcPct val="105000"/>
              </a:lnSpc>
              <a:buNone/>
            </a:pPr>
            <a:r>
              <a:rPr lang="en-US" sz="1150" dirty="0">
                <a:solidFill>
                  <a:srgbClr val="D5E1EC"/>
                </a:solidFill>
                <a:latin typeface="Calibri" pitchFamily="34" charset="0"/>
                <a:ea typeface="Calibri" pitchFamily="34" charset="-122"/>
                <a:cs typeface="Calibri" pitchFamily="34" charset="-120"/>
              </a:rPr>
              <a:t>Parallel SQL across billions of files in minutes — sub-second after rollup.</a:t>
            </a:r>
            <a:endParaRPr lang="en-US" sz="1150" dirty="0"/>
          </a:p>
        </p:txBody>
      </p:sp>
      <p:sp>
        <p:nvSpPr>
          <p:cNvPr id="11" name="Shape 7"/>
          <p:cNvSpPr/>
          <p:nvPr/>
        </p:nvSpPr>
        <p:spPr>
          <a:xfrm>
            <a:off x="4645152" y="1783080"/>
            <a:ext cx="3950208" cy="1325880"/>
          </a:xfrm>
          <a:prstGeom prst="roundRect">
            <a:avLst>
              <a:gd name="adj" fmla="val 5517"/>
            </a:avLst>
          </a:prstGeom>
          <a:solidFill>
            <a:srgbClr val="12304D"/>
          </a:solidFill>
          <a:ln/>
          <a:effectLst>
            <a:outerShdw sx="100000" sy="100000" kx="0" ky="0" algn="bl" rotWithShape="0" blurRad="88900" dist="38100" dir="5400000">
              <a:srgbClr val="0B1F33">
                <a:alpha val="13000"/>
              </a:srgbClr>
            </a:outerShdw>
          </a:effectLst>
        </p:spPr>
      </p:sp>
      <p:sp>
        <p:nvSpPr>
          <p:cNvPr id="12" name="Shape 8"/>
          <p:cNvSpPr/>
          <p:nvPr/>
        </p:nvSpPr>
        <p:spPr>
          <a:xfrm>
            <a:off x="4864608" y="2020824"/>
            <a:ext cx="548640" cy="548640"/>
          </a:xfrm>
          <a:prstGeom prst="ellipse">
            <a:avLst/>
          </a:prstGeom>
          <a:solidFill>
            <a:srgbClr val="2E8BAB"/>
          </a:solidFill>
          <a:ln/>
        </p:spPr>
      </p:sp>
      <p:pic>
        <p:nvPicPr>
          <p:cNvPr id="13" name="Image 2" descr="preencoded.png">    </p:cNvPr>
          <p:cNvPicPr>
            <a:picLocks noChangeAspect="1"/>
          </p:cNvPicPr>
          <p:nvPr/>
        </p:nvPicPr>
        <p:blipFill>
          <a:blip r:embed="rId3"/>
          <a:stretch>
            <a:fillRect/>
          </a:stretch>
        </p:blipFill>
        <p:spPr>
          <a:xfrm>
            <a:off x="5007254" y="2163470"/>
            <a:ext cx="263347" cy="263347"/>
          </a:xfrm>
          <a:prstGeom prst="rect">
            <a:avLst/>
          </a:prstGeom>
        </p:spPr>
      </p:pic>
      <p:sp>
        <p:nvSpPr>
          <p:cNvPr id="14" name="Text 9"/>
          <p:cNvSpPr/>
          <p:nvPr/>
        </p:nvSpPr>
        <p:spPr>
          <a:xfrm>
            <a:off x="5559552" y="1984248"/>
            <a:ext cx="2898648" cy="365760"/>
          </a:xfrm>
          <a:prstGeom prst="rect">
            <a:avLst/>
          </a:prstGeom>
          <a:noFill/>
          <a:ln/>
        </p:spPr>
        <p:txBody>
          <a:bodyPr wrap="square" lIns="0" tIns="0" rIns="0" bIns="0" rtlCol="0" anchor="ctr"/>
          <a:lstStyle/>
          <a:p>
            <a:pPr indent="0" marL="0">
              <a:buNone/>
            </a:pPr>
            <a:r>
              <a:rPr lang="en-US" sz="1600" b="1" dirty="0">
                <a:solidFill>
                  <a:srgbClr val="F5A623"/>
                </a:solidFill>
                <a:latin typeface="Cambria" pitchFamily="34" charset="0"/>
                <a:ea typeface="Cambria" pitchFamily="34" charset="-122"/>
                <a:cs typeface="Cambria" pitchFamily="34" charset="-120"/>
              </a:rPr>
              <a:t>Security by construction</a:t>
            </a:r>
            <a:endParaRPr lang="en-US" sz="1600" dirty="0"/>
          </a:p>
        </p:txBody>
      </p:sp>
      <p:sp>
        <p:nvSpPr>
          <p:cNvPr id="15" name="Text 10"/>
          <p:cNvSpPr/>
          <p:nvPr/>
        </p:nvSpPr>
        <p:spPr>
          <a:xfrm>
            <a:off x="5559552" y="2368296"/>
            <a:ext cx="2871216" cy="658368"/>
          </a:xfrm>
          <a:prstGeom prst="rect">
            <a:avLst/>
          </a:prstGeom>
          <a:noFill/>
          <a:ln/>
        </p:spPr>
        <p:txBody>
          <a:bodyPr wrap="square" lIns="0" tIns="0" rIns="0" bIns="0" rtlCol="0" anchor="ctr"/>
          <a:lstStyle/>
          <a:p>
            <a:pPr indent="0" marL="0">
              <a:lnSpc>
                <a:spcPct val="105000"/>
              </a:lnSpc>
              <a:buNone/>
            </a:pPr>
            <a:r>
              <a:rPr lang="en-US" sz="1150" dirty="0">
                <a:solidFill>
                  <a:srgbClr val="D5E1EC"/>
                </a:solidFill>
                <a:latin typeface="Calibri" pitchFamily="34" charset="0"/>
                <a:ea typeface="Calibri" pitchFamily="34" charset="-122"/>
                <a:cs typeface="Calibri" pitchFamily="34" charset="-120"/>
              </a:rPr>
              <a:t>POSIX / ACL / MLS enforced by the filesystem itself; no add-on layer to trust.</a:t>
            </a:r>
            <a:endParaRPr lang="en-US" sz="1150" dirty="0"/>
          </a:p>
        </p:txBody>
      </p:sp>
      <p:sp>
        <p:nvSpPr>
          <p:cNvPr id="16" name="Shape 11"/>
          <p:cNvSpPr/>
          <p:nvPr/>
        </p:nvSpPr>
        <p:spPr>
          <a:xfrm>
            <a:off x="548640" y="3255264"/>
            <a:ext cx="3950208" cy="1325880"/>
          </a:xfrm>
          <a:prstGeom prst="roundRect">
            <a:avLst>
              <a:gd name="adj" fmla="val 5517"/>
            </a:avLst>
          </a:prstGeom>
          <a:solidFill>
            <a:srgbClr val="12304D"/>
          </a:solidFill>
          <a:ln/>
          <a:effectLst>
            <a:outerShdw sx="100000" sy="100000" kx="0" ky="0" algn="bl" rotWithShape="0" blurRad="88900" dist="38100" dir="5400000">
              <a:srgbClr val="0B1F33">
                <a:alpha val="13000"/>
              </a:srgbClr>
            </a:outerShdw>
          </a:effectLst>
        </p:spPr>
      </p:sp>
      <p:sp>
        <p:nvSpPr>
          <p:cNvPr id="17" name="Shape 12"/>
          <p:cNvSpPr/>
          <p:nvPr/>
        </p:nvSpPr>
        <p:spPr>
          <a:xfrm>
            <a:off x="768096" y="3493008"/>
            <a:ext cx="548640" cy="548640"/>
          </a:xfrm>
          <a:prstGeom prst="ellipse">
            <a:avLst/>
          </a:prstGeom>
          <a:solidFill>
            <a:srgbClr val="2E8BAB"/>
          </a:solidFill>
          <a:ln/>
        </p:spPr>
      </p:sp>
      <p:pic>
        <p:nvPicPr>
          <p:cNvPr id="18" name="Image 3" descr="preencoded.png">    </p:cNvPr>
          <p:cNvPicPr>
            <a:picLocks noChangeAspect="1"/>
          </p:cNvPicPr>
          <p:nvPr/>
        </p:nvPicPr>
        <p:blipFill>
          <a:blip r:embed="rId4"/>
          <a:stretch>
            <a:fillRect/>
          </a:stretch>
        </p:blipFill>
        <p:spPr>
          <a:xfrm>
            <a:off x="910742" y="3635654"/>
            <a:ext cx="263347" cy="263347"/>
          </a:xfrm>
          <a:prstGeom prst="rect">
            <a:avLst/>
          </a:prstGeom>
        </p:spPr>
      </p:pic>
      <p:sp>
        <p:nvSpPr>
          <p:cNvPr id="19" name="Text 13"/>
          <p:cNvSpPr/>
          <p:nvPr/>
        </p:nvSpPr>
        <p:spPr>
          <a:xfrm>
            <a:off x="1463040" y="3456432"/>
            <a:ext cx="2898648" cy="365760"/>
          </a:xfrm>
          <a:prstGeom prst="rect">
            <a:avLst/>
          </a:prstGeom>
          <a:noFill/>
          <a:ln/>
        </p:spPr>
        <p:txBody>
          <a:bodyPr wrap="square" lIns="0" tIns="0" rIns="0" bIns="0" rtlCol="0" anchor="ctr"/>
          <a:lstStyle/>
          <a:p>
            <a:pPr indent="0" marL="0">
              <a:buNone/>
            </a:pPr>
            <a:r>
              <a:rPr lang="en-US" sz="1600" b="1" dirty="0">
                <a:solidFill>
                  <a:srgbClr val="F5A623"/>
                </a:solidFill>
                <a:latin typeface="Cambria" pitchFamily="34" charset="0"/>
                <a:ea typeface="Cambria" pitchFamily="34" charset="-122"/>
                <a:cs typeface="Cambria" pitchFamily="34" charset="-120"/>
              </a:rPr>
              <a:t>Open &amp; composable</a:t>
            </a:r>
            <a:endParaRPr lang="en-US" sz="1600" dirty="0"/>
          </a:p>
        </p:txBody>
      </p:sp>
      <p:sp>
        <p:nvSpPr>
          <p:cNvPr id="20" name="Text 14"/>
          <p:cNvSpPr/>
          <p:nvPr/>
        </p:nvSpPr>
        <p:spPr>
          <a:xfrm>
            <a:off x="1463040" y="3840480"/>
            <a:ext cx="2871216" cy="658368"/>
          </a:xfrm>
          <a:prstGeom prst="rect">
            <a:avLst/>
          </a:prstGeom>
          <a:noFill/>
          <a:ln/>
        </p:spPr>
        <p:txBody>
          <a:bodyPr wrap="square" lIns="0" tIns="0" rIns="0" bIns="0" rtlCol="0" anchor="ctr"/>
          <a:lstStyle/>
          <a:p>
            <a:pPr indent="0" marL="0">
              <a:lnSpc>
                <a:spcPct val="105000"/>
              </a:lnSpc>
              <a:buNone/>
            </a:pPr>
            <a:r>
              <a:rPr lang="en-US" sz="1150" dirty="0">
                <a:solidFill>
                  <a:srgbClr val="D5E1EC"/>
                </a:solidFill>
                <a:latin typeface="Calibri" pitchFamily="34" charset="0"/>
                <a:ea typeface="Calibri" pitchFamily="34" charset="-122"/>
                <a:cs typeface="Calibri" pitchFamily="34" charset="-120"/>
              </a:rPr>
              <a:t>Plain SQLite, BSD-licensed, freely grafted, archived and distributed.</a:t>
            </a:r>
            <a:endParaRPr lang="en-US" sz="1150" dirty="0"/>
          </a:p>
        </p:txBody>
      </p:sp>
      <p:sp>
        <p:nvSpPr>
          <p:cNvPr id="21" name="Shape 15"/>
          <p:cNvSpPr/>
          <p:nvPr/>
        </p:nvSpPr>
        <p:spPr>
          <a:xfrm>
            <a:off x="4645152" y="3255264"/>
            <a:ext cx="3950208" cy="1325880"/>
          </a:xfrm>
          <a:prstGeom prst="roundRect">
            <a:avLst>
              <a:gd name="adj" fmla="val 5517"/>
            </a:avLst>
          </a:prstGeom>
          <a:solidFill>
            <a:srgbClr val="12304D"/>
          </a:solidFill>
          <a:ln/>
          <a:effectLst>
            <a:outerShdw sx="100000" sy="100000" kx="0" ky="0" algn="bl" rotWithShape="0" blurRad="88900" dist="38100" dir="5400000">
              <a:srgbClr val="0B1F33">
                <a:alpha val="13000"/>
              </a:srgbClr>
            </a:outerShdw>
          </a:effectLst>
        </p:spPr>
      </p:sp>
      <p:sp>
        <p:nvSpPr>
          <p:cNvPr id="22" name="Shape 16"/>
          <p:cNvSpPr/>
          <p:nvPr/>
        </p:nvSpPr>
        <p:spPr>
          <a:xfrm>
            <a:off x="4864608" y="3493008"/>
            <a:ext cx="548640" cy="548640"/>
          </a:xfrm>
          <a:prstGeom prst="ellipse">
            <a:avLst/>
          </a:prstGeom>
          <a:solidFill>
            <a:srgbClr val="2E8BAB"/>
          </a:solidFill>
          <a:ln/>
        </p:spPr>
      </p:sp>
      <p:pic>
        <p:nvPicPr>
          <p:cNvPr id="23" name="Image 4" descr="preencoded.png">    </p:cNvPr>
          <p:cNvPicPr>
            <a:picLocks noChangeAspect="1"/>
          </p:cNvPicPr>
          <p:nvPr/>
        </p:nvPicPr>
        <p:blipFill>
          <a:blip r:embed="rId5"/>
          <a:stretch>
            <a:fillRect/>
          </a:stretch>
        </p:blipFill>
        <p:spPr>
          <a:xfrm>
            <a:off x="5007254" y="3635654"/>
            <a:ext cx="263347" cy="263347"/>
          </a:xfrm>
          <a:prstGeom prst="rect">
            <a:avLst/>
          </a:prstGeom>
        </p:spPr>
      </p:pic>
      <p:sp>
        <p:nvSpPr>
          <p:cNvPr id="24" name="Text 17"/>
          <p:cNvSpPr/>
          <p:nvPr/>
        </p:nvSpPr>
        <p:spPr>
          <a:xfrm>
            <a:off x="5559552" y="3456432"/>
            <a:ext cx="2898648" cy="365760"/>
          </a:xfrm>
          <a:prstGeom prst="rect">
            <a:avLst/>
          </a:prstGeom>
          <a:noFill/>
          <a:ln/>
        </p:spPr>
        <p:txBody>
          <a:bodyPr wrap="square" lIns="0" tIns="0" rIns="0" bIns="0" rtlCol="0" anchor="ctr"/>
          <a:lstStyle/>
          <a:p>
            <a:pPr indent="0" marL="0">
              <a:buNone/>
            </a:pPr>
            <a:r>
              <a:rPr lang="en-US" sz="1600" b="1" dirty="0">
                <a:solidFill>
                  <a:srgbClr val="F5A623"/>
                </a:solidFill>
                <a:latin typeface="Cambria" pitchFamily="34" charset="0"/>
                <a:ea typeface="Cambria" pitchFamily="34" charset="-122"/>
                <a:cs typeface="Cambria" pitchFamily="34" charset="-120"/>
              </a:rPr>
              <a:t>AI-ready</a:t>
            </a:r>
            <a:endParaRPr lang="en-US" sz="1600" dirty="0"/>
          </a:p>
        </p:txBody>
      </p:sp>
      <p:sp>
        <p:nvSpPr>
          <p:cNvPr id="25" name="Text 18"/>
          <p:cNvSpPr/>
          <p:nvPr/>
        </p:nvSpPr>
        <p:spPr>
          <a:xfrm>
            <a:off x="5559552" y="3840480"/>
            <a:ext cx="2871216" cy="658368"/>
          </a:xfrm>
          <a:prstGeom prst="rect">
            <a:avLst/>
          </a:prstGeom>
          <a:noFill/>
          <a:ln/>
        </p:spPr>
        <p:txBody>
          <a:bodyPr wrap="square" lIns="0" tIns="0" rIns="0" bIns="0" rtlCol="0" anchor="ctr"/>
          <a:lstStyle/>
          <a:p>
            <a:pPr indent="0" marL="0">
              <a:lnSpc>
                <a:spcPct val="105000"/>
              </a:lnSpc>
              <a:buNone/>
            </a:pPr>
            <a:r>
              <a:rPr lang="en-US" sz="1150" dirty="0">
                <a:solidFill>
                  <a:srgbClr val="D5E1EC"/>
                </a:solidFill>
                <a:latin typeface="Calibri" pitchFamily="34" charset="0"/>
                <a:ea typeface="Calibri" pitchFamily="34" charset="-122"/>
                <a:cs typeface="Calibri" pitchFamily="34" charset="-120"/>
              </a:rPr>
              <a:t>FTS5, vector search, RAG and MCP — governed by the same access model.</a:t>
            </a:r>
            <a:endParaRPr lang="en-US" sz="1150" dirty="0"/>
          </a:p>
        </p:txBody>
      </p:sp>
      <p:sp>
        <p:nvSpPr>
          <p:cNvPr id="26" name="Text 19"/>
          <p:cNvSpPr/>
          <p:nvPr/>
        </p:nvSpPr>
        <p:spPr>
          <a:xfrm>
            <a:off x="548640" y="4617720"/>
            <a:ext cx="8229600" cy="274320"/>
          </a:xfrm>
          <a:prstGeom prst="rect">
            <a:avLst/>
          </a:prstGeom>
          <a:noFill/>
          <a:ln/>
        </p:spPr>
        <p:txBody>
          <a:bodyPr wrap="square" lIns="0" tIns="0" rIns="0" bIns="0" rtlCol="0" anchor="ctr"/>
          <a:lstStyle/>
          <a:p>
            <a:pPr indent="0" marL="0">
              <a:buNone/>
            </a:pPr>
            <a:r>
              <a:rPr lang="en-US" sz="1100" dirty="0">
                <a:solidFill>
                  <a:srgbClr val="8AA2B8"/>
                </a:solidFill>
                <a:latin typeface="Calibri" pitchFamily="34" charset="0"/>
                <a:ea typeface="Calibri" pitchFamily="34" charset="-122"/>
                <a:cs typeface="Calibri" pitchFamily="34" charset="-120"/>
              </a:rPr>
              <a:t>github.com/mar-file-system/GUFI   ·   BSD License   ·   Los Alamos National Laboratory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GUFI — Grand Unified File Index: Capabilities Overview</dc:title>
  <dc:subject>PptxGenJS Presentation</dc:subject>
  <dc:creator>Bacula Systems</dc:creator>
  <cp:lastModifiedBy>Bacula Systems</cp:lastModifiedBy>
  <cp:revision>1</cp:revision>
  <dcterms:created xsi:type="dcterms:W3CDTF">2026-06-16T11:37:04Z</dcterms:created>
  <dcterms:modified xsi:type="dcterms:W3CDTF">2026-06-16T11:37:04Z</dcterms:modified>
</cp:coreProperties>
</file>